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72" r:id="rId2"/>
    <p:sldId id="269" r:id="rId3"/>
    <p:sldId id="273" r:id="rId4"/>
    <p:sldId id="262" r:id="rId5"/>
    <p:sldId id="263" r:id="rId6"/>
    <p:sldId id="264" r:id="rId7"/>
    <p:sldId id="270" r:id="rId8"/>
    <p:sldId id="274" r:id="rId9"/>
    <p:sldId id="275" r:id="rId10"/>
    <p:sldId id="276" r:id="rId11"/>
    <p:sldId id="277" r:id="rId12"/>
    <p:sldId id="278" r:id="rId13"/>
    <p:sldId id="279" r:id="rId14"/>
    <p:sldId id="280" r:id="rId15"/>
    <p:sldId id="281" r:id="rId16"/>
    <p:sldId id="271" r:id="rId17"/>
    <p:sldId id="284" r:id="rId18"/>
    <p:sldId id="285" r:id="rId19"/>
    <p:sldId id="286" r:id="rId20"/>
    <p:sldId id="283" r:id="rId21"/>
    <p:sldId id="287" r:id="rId22"/>
    <p:sldId id="288" r:id="rId23"/>
    <p:sldId id="290" r:id="rId24"/>
    <p:sldId id="289" r:id="rId25"/>
    <p:sldId id="292" r:id="rId26"/>
    <p:sldId id="291" r:id="rId27"/>
    <p:sldId id="294" r:id="rId28"/>
    <p:sldId id="295" r:id="rId29"/>
    <p:sldId id="296" r:id="rId30"/>
    <p:sldId id="297" r:id="rId31"/>
    <p:sldId id="298" r:id="rId32"/>
    <p:sldId id="299" r:id="rId3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56"/>
  </p:normalViewPr>
  <p:slideViewPr>
    <p:cSldViewPr snapToGrid="0">
      <p:cViewPr varScale="1">
        <p:scale>
          <a:sx n="84" d="100"/>
          <a:sy n="84" d="100"/>
        </p:scale>
        <p:origin x="10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1030C5-E474-A944-B8F3-B3F044D10C1A}" type="datetimeFigureOut">
              <a:rPr lang="es-ES_tradnl" smtClean="0"/>
              <a:t>19/10/24</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CB2D1-7C18-A44E-8DD1-E8CCBEF6934E}" type="slidenum">
              <a:rPr lang="es-ES_tradnl" smtClean="0"/>
              <a:t>‹Nº›</a:t>
            </a:fld>
            <a:endParaRPr lang="es-ES_tradnl"/>
          </a:p>
        </p:txBody>
      </p:sp>
    </p:spTree>
    <p:extLst>
      <p:ext uri="{BB962C8B-B14F-4D97-AF65-F5344CB8AC3E}">
        <p14:creationId xmlns:p14="http://schemas.microsoft.com/office/powerpoint/2010/main" val="3988563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2A2828-E08C-3E39-7622-AF799F7CC68D}"/>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ES_tradnl"/>
          </a:p>
        </p:txBody>
      </p:sp>
      <p:sp>
        <p:nvSpPr>
          <p:cNvPr id="3" name="Subtítulo 2">
            <a:extLst>
              <a:ext uri="{FF2B5EF4-FFF2-40B4-BE49-F238E27FC236}">
                <a16:creationId xmlns:a16="http://schemas.microsoft.com/office/drawing/2014/main" id="{ADB66F68-4F87-F390-4B93-BA12C66C8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ES_tradnl"/>
          </a:p>
        </p:txBody>
      </p:sp>
      <p:sp>
        <p:nvSpPr>
          <p:cNvPr id="4" name="Marcador de fecha 3">
            <a:extLst>
              <a:ext uri="{FF2B5EF4-FFF2-40B4-BE49-F238E27FC236}">
                <a16:creationId xmlns:a16="http://schemas.microsoft.com/office/drawing/2014/main" id="{65DCC9D0-7FD3-0DB9-C7B1-E897906B364D}"/>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5BC7B404-19EC-82D8-CB1C-80E507582DEA}"/>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606584B7-15B9-9390-7DD2-3C344DAE27BF}"/>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3306008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47B6FC-E482-5AAC-7A38-8A4BF0E4CF88}"/>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9726B87D-A935-A221-8A88-ED118426106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DFFF089D-6A56-7A96-662D-8CF39CA17FB5}"/>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70B5A667-C9A2-8F7C-04BB-B61243E7C750}"/>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9E2F1CBC-3DF4-9E1C-8814-855B94DBA997}"/>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1890913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E529CE-36F5-EC67-976D-9D1508C206F9}"/>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C3A6B992-FBE6-F335-8F16-B75735AA68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DC7174F-FC5E-45AB-DB78-11F835FC4668}"/>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B898CA03-55D4-F484-CF9E-D13A54226910}"/>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F83DC3DF-1C1C-3CD4-2D9C-0158CE975CD2}"/>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3886217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16629A-F4A0-359C-FCF7-AB974DD580DA}"/>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BC455360-ADE6-C21F-6527-16D7032BBCE1}"/>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contenido 3">
            <a:extLst>
              <a:ext uri="{FF2B5EF4-FFF2-40B4-BE49-F238E27FC236}">
                <a16:creationId xmlns:a16="http://schemas.microsoft.com/office/drawing/2014/main" id="{D924D5E4-18F0-16ED-6FF8-EED12FEDD83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fecha 4">
            <a:extLst>
              <a:ext uri="{FF2B5EF4-FFF2-40B4-BE49-F238E27FC236}">
                <a16:creationId xmlns:a16="http://schemas.microsoft.com/office/drawing/2014/main" id="{6A814414-5B3F-EA0E-0A89-66399D9FCE24}"/>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6" name="Marcador de pie de página 5">
            <a:extLst>
              <a:ext uri="{FF2B5EF4-FFF2-40B4-BE49-F238E27FC236}">
                <a16:creationId xmlns:a16="http://schemas.microsoft.com/office/drawing/2014/main" id="{890A05AC-7F7C-26D8-9222-DC51BAE2567A}"/>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A93E5FC4-904A-7D1C-AB6C-B2784701544C}"/>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200454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C26A09-3C3D-F5B4-0554-F85AF39CA464}"/>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9371FF3C-3C29-291B-06D3-C3D45E296B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C29F34A5-18AE-102C-C21D-18290BDC0821}"/>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5" name="Marcador de texto 4">
            <a:extLst>
              <a:ext uri="{FF2B5EF4-FFF2-40B4-BE49-F238E27FC236}">
                <a16:creationId xmlns:a16="http://schemas.microsoft.com/office/drawing/2014/main" id="{10062C5E-9309-8161-B28E-21F35FDDEB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74C968F7-D3C1-70D7-6EEB-0CB2B0CD459A}"/>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7" name="Marcador de fecha 6">
            <a:extLst>
              <a:ext uri="{FF2B5EF4-FFF2-40B4-BE49-F238E27FC236}">
                <a16:creationId xmlns:a16="http://schemas.microsoft.com/office/drawing/2014/main" id="{707FB5F0-FE3C-79FC-8B00-217CC842300A}"/>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8" name="Marcador de pie de página 7">
            <a:extLst>
              <a:ext uri="{FF2B5EF4-FFF2-40B4-BE49-F238E27FC236}">
                <a16:creationId xmlns:a16="http://schemas.microsoft.com/office/drawing/2014/main" id="{FA5E111D-B581-195B-9F88-B7327348C6EB}"/>
              </a:ext>
            </a:extLst>
          </p:cNvPr>
          <p:cNvSpPr>
            <a:spLocks noGrp="1"/>
          </p:cNvSpPr>
          <p:nvPr>
            <p:ph type="ftr" sz="quarter" idx="11"/>
          </p:nvPr>
        </p:nvSpPr>
        <p:spPr/>
        <p:txBody>
          <a:bodyPr/>
          <a:lstStyle/>
          <a:p>
            <a:endParaRPr lang="es-ES_tradnl"/>
          </a:p>
        </p:txBody>
      </p:sp>
      <p:sp>
        <p:nvSpPr>
          <p:cNvPr id="9" name="Marcador de número de diapositiva 8">
            <a:extLst>
              <a:ext uri="{FF2B5EF4-FFF2-40B4-BE49-F238E27FC236}">
                <a16:creationId xmlns:a16="http://schemas.microsoft.com/office/drawing/2014/main" id="{6C108FBB-AC98-39AB-253C-C06DD573A5C5}"/>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366160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8C50F-2653-E7F8-900B-9C040312C663}"/>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fecha 2">
            <a:extLst>
              <a:ext uri="{FF2B5EF4-FFF2-40B4-BE49-F238E27FC236}">
                <a16:creationId xmlns:a16="http://schemas.microsoft.com/office/drawing/2014/main" id="{DD633092-B96F-7083-38B9-D65DE7B54A78}"/>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4" name="Marcador de pie de página 3">
            <a:extLst>
              <a:ext uri="{FF2B5EF4-FFF2-40B4-BE49-F238E27FC236}">
                <a16:creationId xmlns:a16="http://schemas.microsoft.com/office/drawing/2014/main" id="{1F2B906F-143B-F223-D4B1-8E8000F2C33D}"/>
              </a:ext>
            </a:extLst>
          </p:cNvPr>
          <p:cNvSpPr>
            <a:spLocks noGrp="1"/>
          </p:cNvSpPr>
          <p:nvPr>
            <p:ph type="ftr" sz="quarter" idx="11"/>
          </p:nvPr>
        </p:nvSpPr>
        <p:spPr/>
        <p:txBody>
          <a:bodyPr/>
          <a:lstStyle/>
          <a:p>
            <a:endParaRPr lang="es-ES_tradnl"/>
          </a:p>
        </p:txBody>
      </p:sp>
      <p:sp>
        <p:nvSpPr>
          <p:cNvPr id="5" name="Marcador de número de diapositiva 4">
            <a:extLst>
              <a:ext uri="{FF2B5EF4-FFF2-40B4-BE49-F238E27FC236}">
                <a16:creationId xmlns:a16="http://schemas.microsoft.com/office/drawing/2014/main" id="{32AD52AD-950A-3866-045A-50ECB198473B}"/>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2741411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D234471-6FA9-584E-737B-C4AC4F3B8DF5}"/>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3" name="Marcador de pie de página 2">
            <a:extLst>
              <a:ext uri="{FF2B5EF4-FFF2-40B4-BE49-F238E27FC236}">
                <a16:creationId xmlns:a16="http://schemas.microsoft.com/office/drawing/2014/main" id="{E1890C32-76C6-6999-0352-5064DC8C3D3F}"/>
              </a:ext>
            </a:extLst>
          </p:cNvPr>
          <p:cNvSpPr>
            <a:spLocks noGrp="1"/>
          </p:cNvSpPr>
          <p:nvPr>
            <p:ph type="ftr" sz="quarter" idx="11"/>
          </p:nvPr>
        </p:nvSpPr>
        <p:spPr/>
        <p:txBody>
          <a:bodyPr/>
          <a:lstStyle/>
          <a:p>
            <a:endParaRPr lang="es-ES_tradnl"/>
          </a:p>
        </p:txBody>
      </p:sp>
      <p:sp>
        <p:nvSpPr>
          <p:cNvPr id="4" name="Marcador de número de diapositiva 3">
            <a:extLst>
              <a:ext uri="{FF2B5EF4-FFF2-40B4-BE49-F238E27FC236}">
                <a16:creationId xmlns:a16="http://schemas.microsoft.com/office/drawing/2014/main" id="{F8C7A7F3-61E0-7CCF-7D69-772D7CDE3F6C}"/>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308250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C1567C-1FA7-A2F1-15DB-5D2CA69B9BC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contenido 2">
            <a:extLst>
              <a:ext uri="{FF2B5EF4-FFF2-40B4-BE49-F238E27FC236}">
                <a16:creationId xmlns:a16="http://schemas.microsoft.com/office/drawing/2014/main" id="{E98FDBBD-393F-A1A1-AC48-7B61A1F9B7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texto 3">
            <a:extLst>
              <a:ext uri="{FF2B5EF4-FFF2-40B4-BE49-F238E27FC236}">
                <a16:creationId xmlns:a16="http://schemas.microsoft.com/office/drawing/2014/main" id="{2900AEF1-1A94-2907-692F-5813FAA89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C4B1761-36D9-DEFF-F859-6A7F181F8943}"/>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6" name="Marcador de pie de página 5">
            <a:extLst>
              <a:ext uri="{FF2B5EF4-FFF2-40B4-BE49-F238E27FC236}">
                <a16:creationId xmlns:a16="http://schemas.microsoft.com/office/drawing/2014/main" id="{28B4C1AA-851B-9FA9-E1A0-E92D2D8CD008}"/>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967D47C0-5738-0DEE-7F53-55960B127DE2}"/>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499605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CF23E-B2BE-A016-710D-A498E51C1FB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S_tradnl"/>
          </a:p>
        </p:txBody>
      </p:sp>
      <p:sp>
        <p:nvSpPr>
          <p:cNvPr id="3" name="Marcador de posición de imagen 2">
            <a:extLst>
              <a:ext uri="{FF2B5EF4-FFF2-40B4-BE49-F238E27FC236}">
                <a16:creationId xmlns:a16="http://schemas.microsoft.com/office/drawing/2014/main" id="{1C9B6458-B44D-E875-67CF-C8AC62560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a:extLst>
              <a:ext uri="{FF2B5EF4-FFF2-40B4-BE49-F238E27FC236}">
                <a16:creationId xmlns:a16="http://schemas.microsoft.com/office/drawing/2014/main" id="{830A64E9-9167-83CA-CFA9-1C9433AE8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5BBD0BD-E492-8486-A52C-036F7CE29EB7}"/>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6" name="Marcador de pie de página 5">
            <a:extLst>
              <a:ext uri="{FF2B5EF4-FFF2-40B4-BE49-F238E27FC236}">
                <a16:creationId xmlns:a16="http://schemas.microsoft.com/office/drawing/2014/main" id="{2D59032D-47E3-786C-828C-95EAF8B616EF}"/>
              </a:ext>
            </a:extLst>
          </p:cNvPr>
          <p:cNvSpPr>
            <a:spLocks noGrp="1"/>
          </p:cNvSpPr>
          <p:nvPr>
            <p:ph type="ftr" sz="quarter" idx="11"/>
          </p:nvPr>
        </p:nvSpPr>
        <p:spPr/>
        <p:txBody>
          <a:bodyPr/>
          <a:lstStyle/>
          <a:p>
            <a:endParaRPr lang="es-ES_tradnl"/>
          </a:p>
        </p:txBody>
      </p:sp>
      <p:sp>
        <p:nvSpPr>
          <p:cNvPr id="7" name="Marcador de número de diapositiva 6">
            <a:extLst>
              <a:ext uri="{FF2B5EF4-FFF2-40B4-BE49-F238E27FC236}">
                <a16:creationId xmlns:a16="http://schemas.microsoft.com/office/drawing/2014/main" id="{F083377A-7993-ED28-3C18-45B0FFBA5891}"/>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1417035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350CD3-C092-B62F-BAA0-A5B083588ACC}"/>
              </a:ext>
            </a:extLst>
          </p:cNvPr>
          <p:cNvSpPr>
            <a:spLocks noGrp="1"/>
          </p:cNvSpPr>
          <p:nvPr>
            <p:ph type="title"/>
          </p:nvPr>
        </p:nvSpPr>
        <p:spPr/>
        <p:txBody>
          <a:bodyPr/>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870840FB-15A3-DE16-1E18-D4835789D160}"/>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496E2CCE-10DB-AC03-D048-B60FAE427FEF}"/>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1378C9DE-43EB-4D3D-8E4F-8640F7657FC0}"/>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78883148-7E50-AF36-4E5C-F08D9A265E60}"/>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308076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BE4BC4F-16CA-21BE-6450-924D316C899E}"/>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ES_tradnl"/>
          </a:p>
        </p:txBody>
      </p:sp>
      <p:sp>
        <p:nvSpPr>
          <p:cNvPr id="3" name="Marcador de texto vertical 2">
            <a:extLst>
              <a:ext uri="{FF2B5EF4-FFF2-40B4-BE49-F238E27FC236}">
                <a16:creationId xmlns:a16="http://schemas.microsoft.com/office/drawing/2014/main" id="{2CA3FEBA-9C52-83A1-FE04-FBA840B846CC}"/>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74CD4EE8-754D-8206-41E9-CC38D9DA4DD8}"/>
              </a:ext>
            </a:extLst>
          </p:cNvPr>
          <p:cNvSpPr>
            <a:spLocks noGrp="1"/>
          </p:cNvSpPr>
          <p:nvPr>
            <p:ph type="dt" sz="half" idx="10"/>
          </p:nvPr>
        </p:nvSpPr>
        <p:spPr/>
        <p:txBody>
          <a:body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7281036A-7B9F-14E8-DFF4-06708FC03063}"/>
              </a:ext>
            </a:extLst>
          </p:cNvPr>
          <p:cNvSpPr>
            <a:spLocks noGrp="1"/>
          </p:cNvSpPr>
          <p:nvPr>
            <p:ph type="ftr" sz="quarter" idx="11"/>
          </p:nvPr>
        </p:nvSpPr>
        <p:spPr/>
        <p:txBody>
          <a:bodyPr/>
          <a:lstStyle/>
          <a:p>
            <a:endParaRPr lang="es-ES_tradnl"/>
          </a:p>
        </p:txBody>
      </p:sp>
      <p:sp>
        <p:nvSpPr>
          <p:cNvPr id="6" name="Marcador de número de diapositiva 5">
            <a:extLst>
              <a:ext uri="{FF2B5EF4-FFF2-40B4-BE49-F238E27FC236}">
                <a16:creationId xmlns:a16="http://schemas.microsoft.com/office/drawing/2014/main" id="{C350958F-B1FC-6A55-D750-CE93ADD3EB0C}"/>
              </a:ext>
            </a:extLst>
          </p:cNvPr>
          <p:cNvSpPr>
            <a:spLocks noGrp="1"/>
          </p:cNvSpPr>
          <p:nvPr>
            <p:ph type="sldNum" sz="quarter" idx="12"/>
          </p:nvPr>
        </p:nvSpPr>
        <p:spPr/>
        <p:txBody>
          <a:body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1055469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A3893C-FD43-A6D8-E467-811C5D4F66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ES_tradnl"/>
          </a:p>
        </p:txBody>
      </p:sp>
      <p:sp>
        <p:nvSpPr>
          <p:cNvPr id="3" name="Marcador de texto 2">
            <a:extLst>
              <a:ext uri="{FF2B5EF4-FFF2-40B4-BE49-F238E27FC236}">
                <a16:creationId xmlns:a16="http://schemas.microsoft.com/office/drawing/2014/main" id="{72F3F2B2-172E-59B6-D707-AA98D5043D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4" name="Marcador de fecha 3">
            <a:extLst>
              <a:ext uri="{FF2B5EF4-FFF2-40B4-BE49-F238E27FC236}">
                <a16:creationId xmlns:a16="http://schemas.microsoft.com/office/drawing/2014/main" id="{4BE3760E-0468-54C9-73C6-92492CC83C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2DB1BB-C10E-AA47-BC74-A5EC02E3B13B}" type="datetimeFigureOut">
              <a:rPr lang="es-ES_tradnl" smtClean="0"/>
              <a:t>19/10/24</a:t>
            </a:fld>
            <a:endParaRPr lang="es-ES_tradnl"/>
          </a:p>
        </p:txBody>
      </p:sp>
      <p:sp>
        <p:nvSpPr>
          <p:cNvPr id="5" name="Marcador de pie de página 4">
            <a:extLst>
              <a:ext uri="{FF2B5EF4-FFF2-40B4-BE49-F238E27FC236}">
                <a16:creationId xmlns:a16="http://schemas.microsoft.com/office/drawing/2014/main" id="{C19987F5-7501-EA65-BB14-137659AB0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Marcador de número de diapositiva 5">
            <a:extLst>
              <a:ext uri="{FF2B5EF4-FFF2-40B4-BE49-F238E27FC236}">
                <a16:creationId xmlns:a16="http://schemas.microsoft.com/office/drawing/2014/main" id="{25B4C99F-779C-94C5-DCED-ABE774B559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BF1F51-B236-C04F-894A-B99965DB8DF1}" type="slidenum">
              <a:rPr lang="es-ES_tradnl" smtClean="0"/>
              <a:t>‹Nº›</a:t>
            </a:fld>
            <a:endParaRPr lang="es-ES_tradnl"/>
          </a:p>
        </p:txBody>
      </p:sp>
    </p:spTree>
    <p:extLst>
      <p:ext uri="{BB962C8B-B14F-4D97-AF65-F5344CB8AC3E}">
        <p14:creationId xmlns:p14="http://schemas.microsoft.com/office/powerpoint/2010/main" val="4122441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57EB-748D-BD1D-5B16-0AF473AD0A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7E1619-8268-C501-43BC-BE6FF9E9578A}"/>
              </a:ext>
            </a:extLst>
          </p:cNvPr>
          <p:cNvSpPr>
            <a:spLocks noGrp="1"/>
          </p:cNvSpPr>
          <p:nvPr>
            <p:ph type="title"/>
          </p:nvPr>
        </p:nvSpPr>
        <p:spPr>
          <a:xfrm>
            <a:off x="441960" y="262996"/>
            <a:ext cx="6217920" cy="5863484"/>
          </a:xfrm>
        </p:spPr>
        <p:txBody>
          <a:bodyPr>
            <a:normAutofit/>
          </a:bodyPr>
          <a:lstStyle/>
          <a:p>
            <a:pPr algn="ctr"/>
            <a:r>
              <a:rPr lang="es-ES_tradnl" sz="4000" b="1" dirty="0">
                <a:solidFill>
                  <a:srgbClr val="7030A0"/>
                </a:solidFill>
                <a:latin typeface="+mn-lt"/>
              </a:rPr>
              <a:t>UNO</a:t>
            </a:r>
            <a:br>
              <a:rPr lang="es-ES_tradnl" sz="4000" b="1" dirty="0">
                <a:solidFill>
                  <a:srgbClr val="7030A0"/>
                </a:solidFill>
                <a:latin typeface="+mn-lt"/>
              </a:rPr>
            </a:br>
            <a:br>
              <a:rPr lang="es-ES_tradnl" sz="4000" b="1" dirty="0">
                <a:solidFill>
                  <a:srgbClr val="7030A0"/>
                </a:solidFill>
                <a:latin typeface="+mn-lt"/>
              </a:rPr>
            </a:br>
            <a:r>
              <a:rPr lang="es-ES_tradnl" b="1" dirty="0">
                <a:solidFill>
                  <a:srgbClr val="7030A0"/>
                </a:solidFill>
                <a:latin typeface="+mn-lt"/>
              </a:rPr>
              <a:t>EMPRENDER </a:t>
            </a:r>
            <a:br>
              <a:rPr lang="es-ES_tradnl" b="1" dirty="0">
                <a:solidFill>
                  <a:srgbClr val="7030A0"/>
                </a:solidFill>
                <a:latin typeface="+mn-lt"/>
              </a:rPr>
            </a:br>
            <a:r>
              <a:rPr lang="es-ES_tradnl" b="1" dirty="0">
                <a:solidFill>
                  <a:srgbClr val="7030A0"/>
                </a:solidFill>
                <a:latin typeface="+mn-lt"/>
              </a:rPr>
              <a:t>PARA CAMBIAR</a:t>
            </a:r>
          </a:p>
        </p:txBody>
      </p:sp>
      <p:pic>
        <p:nvPicPr>
          <p:cNvPr id="5" name="Imagen 4">
            <a:extLst>
              <a:ext uri="{FF2B5EF4-FFF2-40B4-BE49-F238E27FC236}">
                <a16:creationId xmlns:a16="http://schemas.microsoft.com/office/drawing/2014/main" id="{78F950C4-CD43-4C6C-7550-7CDD72A93ADC}"/>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64839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1917-3499-D1A0-8CB0-CEDCD35CE3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C198BD-F570-C420-558B-33D778092916}"/>
              </a:ext>
            </a:extLst>
          </p:cNvPr>
          <p:cNvSpPr>
            <a:spLocks noGrp="1"/>
          </p:cNvSpPr>
          <p:nvPr>
            <p:ph type="title"/>
          </p:nvPr>
        </p:nvSpPr>
        <p:spPr>
          <a:xfrm>
            <a:off x="581026" y="262996"/>
            <a:ext cx="7319962" cy="1807305"/>
          </a:xfrm>
        </p:spPr>
        <p:txBody>
          <a:bodyPr>
            <a:normAutofit/>
          </a:bodyPr>
          <a:lstStyle/>
          <a:p>
            <a:r>
              <a:rPr lang="es-ES_tradnl" sz="3600" b="1" dirty="0">
                <a:solidFill>
                  <a:srgbClr val="7030A0"/>
                </a:solidFill>
                <a:latin typeface="+mn-lt"/>
              </a:rPr>
              <a:t>HACER UN EMPRENDIMIENTO</a:t>
            </a:r>
          </a:p>
        </p:txBody>
      </p:sp>
      <p:sp>
        <p:nvSpPr>
          <p:cNvPr id="3" name="Marcador de contenido 2">
            <a:extLst>
              <a:ext uri="{FF2B5EF4-FFF2-40B4-BE49-F238E27FC236}">
                <a16:creationId xmlns:a16="http://schemas.microsoft.com/office/drawing/2014/main" id="{0B8D0756-232A-FF2A-520E-604D5BA6E2AA}"/>
              </a:ext>
            </a:extLst>
          </p:cNvPr>
          <p:cNvSpPr>
            <a:spLocks noGrp="1"/>
          </p:cNvSpPr>
          <p:nvPr>
            <p:ph idx="1"/>
          </p:nvPr>
        </p:nvSpPr>
        <p:spPr>
          <a:xfrm>
            <a:off x="577978" y="1811684"/>
            <a:ext cx="5837109" cy="4681865"/>
          </a:xfrm>
        </p:spPr>
        <p:txBody>
          <a:bodyPr>
            <a:normAutofit/>
          </a:bodyPr>
          <a:lstStyle/>
          <a:p>
            <a:pPr algn="just"/>
            <a:r>
              <a:rPr lang="es-ES_tradnl" kern="100" dirty="0">
                <a:effectLst/>
                <a:latin typeface="Calibri" panose="020F0502020204030204" pitchFamily="34" charset="0"/>
                <a:ea typeface="Calibri" panose="020F0502020204030204" pitchFamily="34" charset="0"/>
                <a:cs typeface="Times New Roman" panose="02020603050405020304" pitchFamily="18" charset="0"/>
              </a:rPr>
              <a:t>INCERTIDUMBRE sobre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qué</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cómo</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y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cuándo</a:t>
            </a:r>
          </a:p>
          <a:p>
            <a:pPr algn="just"/>
            <a:r>
              <a:rPr lang="es-ES_tradnl" kern="100" dirty="0">
                <a:effectLst/>
                <a:latin typeface="Calibri" panose="020F0502020204030204" pitchFamily="34" charset="0"/>
                <a:ea typeface="Calibri" panose="020F0502020204030204" pitchFamily="34" charset="0"/>
                <a:cs typeface="Times New Roman" panose="02020603050405020304" pitchFamily="18" charset="0"/>
              </a:rPr>
              <a:t>GENERACIÓN DE CONFIANZA, acordar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qué</a:t>
            </a:r>
            <a:endParaRPr lang="es-ES_tradnl"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ASOCIATIVIDAD, acordar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cómo</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y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cuándo</a:t>
            </a:r>
          </a:p>
          <a:p>
            <a:pPr algn="just"/>
            <a:r>
              <a:rPr lang="es-ES_tradnl" kern="100" dirty="0">
                <a:effectLst/>
                <a:latin typeface="Calibri" panose="020F0502020204030204" pitchFamily="34" charset="0"/>
                <a:ea typeface="Calibri" panose="020F0502020204030204" pitchFamily="34" charset="0"/>
                <a:cs typeface="Times New Roman" panose="02020603050405020304" pitchFamily="18" charset="0"/>
              </a:rPr>
              <a:t>INSTITUCIÓN, sostener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qué</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adecuar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cómo</a:t>
            </a:r>
            <a:r>
              <a:rPr lang="es-ES_tradnl"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 </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 las circunstancias, y pensar el </a:t>
            </a:r>
            <a:r>
              <a:rPr lang="es-ES_tradnl"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cuándo</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de otra forma. </a:t>
            </a:r>
          </a:p>
          <a:p>
            <a:pPr marL="0" indent="0" algn="just">
              <a:buNone/>
            </a:pP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50FEB52-F569-680B-E088-BA2FB24D62AB}"/>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38511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7EC2-0E78-5BD9-3D49-F2A26883F4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667063-E643-3E14-965E-D79B06DC00C0}"/>
              </a:ext>
            </a:extLst>
          </p:cNvPr>
          <p:cNvSpPr>
            <a:spLocks noGrp="1"/>
          </p:cNvSpPr>
          <p:nvPr>
            <p:ph type="title"/>
          </p:nvPr>
        </p:nvSpPr>
        <p:spPr>
          <a:xfrm>
            <a:off x="441960" y="262996"/>
            <a:ext cx="6446520" cy="5863484"/>
          </a:xfrm>
        </p:spPr>
        <p:txBody>
          <a:bodyPr>
            <a:normAutofit/>
          </a:bodyPr>
          <a:lstStyle/>
          <a:p>
            <a:pPr algn="ctr"/>
            <a:r>
              <a:rPr lang="es-ES_tradnl" sz="4000" b="1" dirty="0">
                <a:solidFill>
                  <a:srgbClr val="7030A0"/>
                </a:solidFill>
                <a:latin typeface="+mn-lt"/>
              </a:rPr>
              <a:t>DOS</a:t>
            </a:r>
            <a:br>
              <a:rPr lang="es-ES_tradnl" sz="4000" b="1" dirty="0">
                <a:solidFill>
                  <a:srgbClr val="7030A0"/>
                </a:solidFill>
                <a:latin typeface="+mn-lt"/>
              </a:rPr>
            </a:br>
            <a:br>
              <a:rPr lang="es-ES_tradnl" sz="4000" b="1" dirty="0">
                <a:solidFill>
                  <a:srgbClr val="7030A0"/>
                </a:solidFill>
                <a:latin typeface="+mn-lt"/>
              </a:rPr>
            </a:br>
            <a:r>
              <a:rPr lang="es-ES_tradnl" sz="4800" b="1" dirty="0">
                <a:solidFill>
                  <a:srgbClr val="7030A0"/>
                </a:solidFill>
                <a:latin typeface="+mn-lt"/>
              </a:rPr>
              <a:t>EL QUÉ</a:t>
            </a:r>
            <a:endParaRPr lang="es-ES_tradnl" b="1" dirty="0">
              <a:solidFill>
                <a:srgbClr val="7030A0"/>
              </a:solidFill>
              <a:latin typeface="+mn-lt"/>
            </a:endParaRPr>
          </a:p>
        </p:txBody>
      </p:sp>
      <p:pic>
        <p:nvPicPr>
          <p:cNvPr id="5" name="Imagen 4">
            <a:extLst>
              <a:ext uri="{FF2B5EF4-FFF2-40B4-BE49-F238E27FC236}">
                <a16:creationId xmlns:a16="http://schemas.microsoft.com/office/drawing/2014/main" id="{34444B69-DEE6-FE40-B4E5-C80C47426FFB}"/>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855988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DB108-A062-8C2B-8917-A80E8B0FD2F2}"/>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El proceso en el Partido Morado  ACORDAMOS EL QUÉ </a:t>
            </a:r>
          </a:p>
        </p:txBody>
      </p:sp>
      <p:sp>
        <p:nvSpPr>
          <p:cNvPr id="3" name="Marcador de contenido 2">
            <a:extLst>
              <a:ext uri="{FF2B5EF4-FFF2-40B4-BE49-F238E27FC236}">
                <a16:creationId xmlns:a16="http://schemas.microsoft.com/office/drawing/2014/main" id="{5B740FF1-9BC2-753B-68D2-9B4A9D705D18}"/>
              </a:ext>
            </a:extLst>
          </p:cNvPr>
          <p:cNvSpPr>
            <a:spLocks noGrp="1"/>
          </p:cNvSpPr>
          <p:nvPr>
            <p:ph idx="1"/>
          </p:nvPr>
        </p:nvSpPr>
        <p:spPr>
          <a:xfrm>
            <a:off x="581026" y="2446767"/>
            <a:ext cx="5837109" cy="3740673"/>
          </a:xfrm>
        </p:spPr>
        <p:txBody>
          <a:bodyPr>
            <a:normAutofit/>
          </a:bodyPr>
          <a:lstStyle/>
          <a:p>
            <a:pPr algn="just"/>
            <a:endParaRPr lang="es-ES" sz="32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PE" sz="3200" kern="100" dirty="0">
                <a:latin typeface="Calibri" panose="020F0502020204030204" pitchFamily="34" charset="0"/>
                <a:ea typeface="Calibri" panose="020F0502020204030204" pitchFamily="34" charset="0"/>
                <a:cs typeface="Times New Roman" panose="02020603050405020304" pitchFamily="18" charset="0"/>
              </a:rPr>
              <a:t>NUESTRA IDENTIDAD</a:t>
            </a:r>
            <a:endParaRPr lang="es-PE" sz="32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PE" sz="3200" kern="100" dirty="0">
                <a:latin typeface="Calibri" panose="020F0502020204030204" pitchFamily="34" charset="0"/>
                <a:ea typeface="Calibri" panose="020F0502020204030204" pitchFamily="34" charset="0"/>
                <a:cs typeface="Times New Roman" panose="02020603050405020304" pitchFamily="18" charset="0"/>
              </a:rPr>
              <a:t>NUESTRA VISIÓN DE LA REALIDAD</a:t>
            </a:r>
            <a:endParaRPr lang="es-PE" sz="4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D6BA52CE-88B3-9D6E-A4EC-30BFCF4685AF}"/>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347122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DB108-A062-8C2B-8917-A80E8B0FD2F2}"/>
              </a:ext>
            </a:extLst>
          </p:cNvPr>
          <p:cNvSpPr>
            <a:spLocks noGrp="1"/>
          </p:cNvSpPr>
          <p:nvPr>
            <p:ph type="title"/>
          </p:nvPr>
        </p:nvSpPr>
        <p:spPr>
          <a:xfrm>
            <a:off x="291466" y="674476"/>
            <a:ext cx="7319962" cy="1807305"/>
          </a:xfrm>
        </p:spPr>
        <p:txBody>
          <a:bodyPr>
            <a:normAutofit/>
          </a:bodyPr>
          <a:lstStyle/>
          <a:p>
            <a:r>
              <a:rPr lang="es-ES_tradnl" sz="3600" b="1" dirty="0">
                <a:solidFill>
                  <a:srgbClr val="7030A0"/>
                </a:solidFill>
                <a:latin typeface="+mn-lt"/>
              </a:rPr>
              <a:t>Sobre tu identidad</a:t>
            </a:r>
            <a:br>
              <a:rPr lang="es-ES_tradnl" sz="3600" b="1" dirty="0">
                <a:solidFill>
                  <a:srgbClr val="7030A0"/>
                </a:solidFill>
                <a:latin typeface="+mn-lt"/>
              </a:rPr>
            </a:br>
            <a:r>
              <a:rPr lang="es-ES_tradnl" sz="3600" b="1" dirty="0">
                <a:solidFill>
                  <a:srgbClr val="7030A0"/>
                </a:solidFill>
                <a:latin typeface="+mn-lt"/>
              </a:rPr>
              <a:t>CENTRO REPUBLICANO RADICAL</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5B740FF1-9BC2-753B-68D2-9B4A9D705D18}"/>
              </a:ext>
            </a:extLst>
          </p:cNvPr>
          <p:cNvSpPr>
            <a:spLocks noGrp="1"/>
          </p:cNvSpPr>
          <p:nvPr>
            <p:ph idx="1"/>
          </p:nvPr>
        </p:nvSpPr>
        <p:spPr>
          <a:xfrm>
            <a:off x="624840" y="2223165"/>
            <a:ext cx="5790247" cy="4223356"/>
          </a:xfrm>
        </p:spPr>
        <p:txBody>
          <a:bodyPr>
            <a:normAutofit/>
          </a:bodyPr>
          <a:lstStyle/>
          <a:p>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#PeruanosDeIGualValor</a:t>
            </a:r>
            <a:r>
              <a:rPr lang="es-PE" kern="100" dirty="0">
                <a:effectLst/>
                <a:latin typeface="Calibri" panose="020F0502020204030204" pitchFamily="34" charset="0"/>
                <a:ea typeface="Calibri" panose="020F0502020204030204" pitchFamily="34" charset="0"/>
                <a:cs typeface="Times New Roman" panose="02020603050405020304" pitchFamily="18" charset="0"/>
              </a:rPr>
              <a:t> ciudadanía</a:t>
            </a:r>
          </a:p>
          <a:p>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#IdentidadesMultiples</a:t>
            </a:r>
            <a:r>
              <a:rPr lang="es-PE" kern="100" dirty="0">
                <a:effectLst/>
                <a:latin typeface="Calibri" panose="020F0502020204030204" pitchFamily="34" charset="0"/>
                <a:ea typeface="Calibri" panose="020F0502020204030204" pitchFamily="34" charset="0"/>
                <a:cs typeface="Times New Roman" panose="02020603050405020304" pitchFamily="18" charset="0"/>
              </a:rPr>
              <a:t> proyecto de vida en libertad</a:t>
            </a:r>
          </a:p>
          <a:p>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#CanchaPlana </a:t>
            </a:r>
            <a:r>
              <a:rPr lang="es-PE" kern="100" dirty="0">
                <a:effectLst/>
                <a:latin typeface="Calibri" panose="020F0502020204030204" pitchFamily="34" charset="0"/>
                <a:ea typeface="Calibri" panose="020F0502020204030204" pitchFamily="34" charset="0"/>
                <a:cs typeface="Times New Roman" panose="02020603050405020304" pitchFamily="18" charset="0"/>
              </a:rPr>
              <a:t>Asegurar que todos tengan las mismas oportunidades</a:t>
            </a:r>
          </a:p>
          <a:p>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#Meritocracia </a:t>
            </a:r>
            <a:r>
              <a:rPr lang="es-PE" kern="100" dirty="0">
                <a:effectLst/>
                <a:latin typeface="Calibri" panose="020F0502020204030204" pitchFamily="34" charset="0"/>
                <a:ea typeface="Calibri" panose="020F0502020204030204" pitchFamily="34" charset="0"/>
                <a:cs typeface="Times New Roman" panose="02020603050405020304" pitchFamily="18" charset="0"/>
              </a:rPr>
              <a:t>el resultado debe provenir del talento y esfuerzo. Estos determinan los resultados de la vida, y los desenlaces de la vida.</a:t>
            </a:r>
          </a:p>
          <a:p>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D6BA52CE-88B3-9D6E-A4EC-30BFCF4685AF}"/>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8392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DB108-A062-8C2B-8917-A80E8B0FD2F2}"/>
              </a:ext>
            </a:extLst>
          </p:cNvPr>
          <p:cNvSpPr>
            <a:spLocks noGrp="1"/>
          </p:cNvSpPr>
          <p:nvPr>
            <p:ph type="title"/>
          </p:nvPr>
        </p:nvSpPr>
        <p:spPr>
          <a:xfrm>
            <a:off x="581026" y="262996"/>
            <a:ext cx="7319962" cy="1807305"/>
          </a:xfrm>
        </p:spPr>
        <p:txBody>
          <a:bodyPr>
            <a:normAutofit/>
          </a:bodyPr>
          <a:lstStyle/>
          <a:p>
            <a:r>
              <a:rPr lang="es-ES_tradnl" sz="3600" b="1" dirty="0">
                <a:solidFill>
                  <a:srgbClr val="7030A0"/>
                </a:solidFill>
                <a:latin typeface="+mn-lt"/>
              </a:rPr>
              <a:t>Sobre el Perú: </a:t>
            </a:r>
            <a:br>
              <a:rPr lang="es-ES_tradnl" sz="3600" b="1" dirty="0">
                <a:solidFill>
                  <a:srgbClr val="7030A0"/>
                </a:solidFill>
                <a:latin typeface="+mn-lt"/>
              </a:rPr>
            </a:br>
            <a:r>
              <a:rPr lang="es-ES_tradnl" sz="3600" b="1" dirty="0">
                <a:solidFill>
                  <a:srgbClr val="7030A0"/>
                </a:solidFill>
                <a:latin typeface="+mn-lt"/>
              </a:rPr>
              <a:t>ESTA CAMBIANDO MUCHO</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5B740FF1-9BC2-753B-68D2-9B4A9D705D18}"/>
              </a:ext>
            </a:extLst>
          </p:cNvPr>
          <p:cNvSpPr>
            <a:spLocks noGrp="1"/>
          </p:cNvSpPr>
          <p:nvPr>
            <p:ph idx="1"/>
          </p:nvPr>
        </p:nvSpPr>
        <p:spPr>
          <a:xfrm>
            <a:off x="577978" y="1811684"/>
            <a:ext cx="5837109" cy="4681865"/>
          </a:xfrm>
        </p:spPr>
        <p:txBody>
          <a:bodyPr>
            <a:normAutofit/>
          </a:bodyPr>
          <a:lstStyle/>
          <a:p>
            <a:pPr marL="457200" indent="-457200">
              <a:buFont typeface="+mj-lt"/>
              <a:buAutoNum type="arabicPeriod"/>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Un Estado con democracia y una sociedad con viabilidad, donde el problema era la clase política.</a:t>
            </a:r>
          </a:p>
          <a:p>
            <a:pPr marL="457200" indent="-457200">
              <a:buFont typeface="+mj-lt"/>
              <a:buAutoNum type="arabicPeriod"/>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Un Estado con partidos políticos que no tienen sustento democrático y una sociedad con viabilidad, donde el problema son los partidos políticos</a:t>
            </a:r>
          </a:p>
          <a:p>
            <a:pPr marL="457200" indent="-457200">
              <a:buFont typeface="+mj-lt"/>
              <a:buAutoNum type="arabicPeriod"/>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Un Estado con partidos políticos mafiosos, sin sustento cdemocrático que estructuran el poder para quedarse, con una sociedad aterrorizada por la violencia, la pobreza y la crisis económica.</a:t>
            </a:r>
          </a:p>
        </p:txBody>
      </p:sp>
      <p:pic>
        <p:nvPicPr>
          <p:cNvPr id="5" name="Imagen 4">
            <a:extLst>
              <a:ext uri="{FF2B5EF4-FFF2-40B4-BE49-F238E27FC236}">
                <a16:creationId xmlns:a16="http://schemas.microsoft.com/office/drawing/2014/main" id="{D6BA52CE-88B3-9D6E-A4EC-30BFCF4685AF}"/>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85877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757A4-BF86-66A7-BB92-DD71ACCEAC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7AE5F6-A0DD-D119-1F60-3BA4B518E4FB}"/>
              </a:ext>
            </a:extLst>
          </p:cNvPr>
          <p:cNvSpPr>
            <a:spLocks noGrp="1"/>
          </p:cNvSpPr>
          <p:nvPr>
            <p:ph type="title"/>
          </p:nvPr>
        </p:nvSpPr>
        <p:spPr>
          <a:xfrm>
            <a:off x="581026" y="262996"/>
            <a:ext cx="7319962" cy="1807305"/>
          </a:xfrm>
        </p:spPr>
        <p:txBody>
          <a:bodyPr>
            <a:normAutofit/>
          </a:bodyPr>
          <a:lstStyle/>
          <a:p>
            <a:r>
              <a:rPr lang="es-ES_tradnl" sz="3600" b="1" dirty="0">
                <a:solidFill>
                  <a:srgbClr val="7030A0"/>
                </a:solidFill>
                <a:latin typeface="+mn-lt"/>
              </a:rPr>
              <a:t>Sobre el Perú: </a:t>
            </a:r>
            <a:br>
              <a:rPr lang="es-ES_tradnl" sz="3600" b="1" dirty="0">
                <a:solidFill>
                  <a:srgbClr val="7030A0"/>
                </a:solidFill>
                <a:latin typeface="+mn-lt"/>
              </a:rPr>
            </a:br>
            <a:r>
              <a:rPr lang="es-ES_tradnl" sz="3600" b="1" dirty="0">
                <a:solidFill>
                  <a:srgbClr val="7030A0"/>
                </a:solidFill>
                <a:latin typeface="+mn-lt"/>
              </a:rPr>
              <a:t>ESTA CAMBIANDO MUCHO</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FE6A83EC-1CFD-95DA-C2E9-2127BEFE6445}"/>
              </a:ext>
            </a:extLst>
          </p:cNvPr>
          <p:cNvSpPr>
            <a:spLocks noGrp="1"/>
          </p:cNvSpPr>
          <p:nvPr>
            <p:ph idx="1"/>
          </p:nvPr>
        </p:nvSpPr>
        <p:spPr>
          <a:xfrm>
            <a:off x="577978" y="1811684"/>
            <a:ext cx="5837109" cy="4681865"/>
          </a:xfrm>
        </p:spPr>
        <p:txBody>
          <a:bodyPr>
            <a:normAutofit/>
          </a:bodyPr>
          <a:lstStyle/>
          <a:p>
            <a:pPr marL="0" indent="0">
              <a:buNone/>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 donde nos llevan: </a:t>
            </a:r>
            <a:r>
              <a:rPr lang="es-ES_tradnl" kern="100" dirty="0" err="1">
                <a:effectLst/>
                <a:latin typeface="Calibri" panose="020F0502020204030204" pitchFamily="34" charset="0"/>
                <a:ea typeface="Calibri" panose="020F0502020204030204" pitchFamily="34" charset="0"/>
                <a:cs typeface="Times New Roman" panose="02020603050405020304" pitchFamily="18" charset="0"/>
              </a:rPr>
              <a:t>CreptoDictaduras</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a:t>
            </a:r>
          </a:p>
          <a:p>
            <a:pPr marL="400050" indent="-400050">
              <a:buAutoNum type="romanLcParenBoth"/>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Venezuela (extrema izquierda) y </a:t>
            </a:r>
          </a:p>
          <a:p>
            <a:pPr marL="400050" indent="-400050">
              <a:buAutoNum type="romanLcParenBoth"/>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Turquía y Hungría (extremo derecha).</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buFont typeface="+mj-lt"/>
              <a:buAutoNum type="arabicPeriod"/>
            </a:pPr>
            <a:endParaRPr lang="es-PE" sz="3600"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DDA1DCF-014A-1A9C-6E9C-88F725D3E2FE}"/>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3867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E4D5E-0EEC-C622-AD62-5AFC2BAB20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E1B9D4-7FCE-4590-3150-680DD0A688A1}"/>
              </a:ext>
            </a:extLst>
          </p:cNvPr>
          <p:cNvSpPr>
            <a:spLocks noGrp="1"/>
          </p:cNvSpPr>
          <p:nvPr>
            <p:ph type="title"/>
          </p:nvPr>
        </p:nvSpPr>
        <p:spPr>
          <a:xfrm>
            <a:off x="441960" y="262996"/>
            <a:ext cx="6751320" cy="5863484"/>
          </a:xfrm>
        </p:spPr>
        <p:txBody>
          <a:bodyPr>
            <a:normAutofit/>
          </a:bodyPr>
          <a:lstStyle/>
          <a:p>
            <a:pPr algn="ctr"/>
            <a:r>
              <a:rPr lang="es-ES_tradnl" sz="4000" b="1" dirty="0">
                <a:solidFill>
                  <a:srgbClr val="7030A0"/>
                </a:solidFill>
                <a:latin typeface="+mn-lt"/>
              </a:rPr>
              <a:t>TRES</a:t>
            </a:r>
            <a:br>
              <a:rPr lang="es-ES_tradnl" sz="4000" b="1" dirty="0">
                <a:solidFill>
                  <a:srgbClr val="7030A0"/>
                </a:solidFill>
                <a:latin typeface="+mn-lt"/>
              </a:rPr>
            </a:br>
            <a:br>
              <a:rPr lang="es-ES_tradnl" sz="4000" b="1" dirty="0">
                <a:solidFill>
                  <a:srgbClr val="7030A0"/>
                </a:solidFill>
                <a:latin typeface="+mn-lt"/>
              </a:rPr>
            </a:br>
            <a:r>
              <a:rPr lang="es-ES_tradnl" b="1" dirty="0">
                <a:solidFill>
                  <a:srgbClr val="7030A0"/>
                </a:solidFill>
                <a:latin typeface="+mn-lt"/>
              </a:rPr>
              <a:t>El CÓMO y el CUÁNDO</a:t>
            </a:r>
          </a:p>
        </p:txBody>
      </p:sp>
      <p:pic>
        <p:nvPicPr>
          <p:cNvPr id="5" name="Imagen 4">
            <a:extLst>
              <a:ext uri="{FF2B5EF4-FFF2-40B4-BE49-F238E27FC236}">
                <a16:creationId xmlns:a16="http://schemas.microsoft.com/office/drawing/2014/main" id="{1EB9251B-56B9-9593-7C1D-47C30689657F}"/>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30276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936A5-E5A4-C244-245B-DD0EA30050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DAC842-D101-AAD7-8D7D-DC4495407635}"/>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EL CUÁNDO</a:t>
            </a:r>
          </a:p>
        </p:txBody>
      </p:sp>
      <p:sp>
        <p:nvSpPr>
          <p:cNvPr id="3" name="Marcador de contenido 2">
            <a:extLst>
              <a:ext uri="{FF2B5EF4-FFF2-40B4-BE49-F238E27FC236}">
                <a16:creationId xmlns:a16="http://schemas.microsoft.com/office/drawing/2014/main" id="{A12803EE-1FAF-F712-BB14-4533115CF2CE}"/>
              </a:ext>
            </a:extLst>
          </p:cNvPr>
          <p:cNvSpPr>
            <a:spLocks noGrp="1"/>
          </p:cNvSpPr>
          <p:nvPr>
            <p:ph idx="1"/>
          </p:nvPr>
        </p:nvSpPr>
        <p:spPr>
          <a:xfrm>
            <a:off x="581026" y="2446767"/>
            <a:ext cx="5837109" cy="3740673"/>
          </a:xfrm>
        </p:spPr>
        <p:txBody>
          <a:bodyPr>
            <a:normAutofit/>
          </a:bodyPr>
          <a:lstStyle/>
          <a:p>
            <a:pPr marL="0" indent="0" algn="just">
              <a:buNone/>
            </a:pPr>
            <a:r>
              <a:rPr lang="es-PE" sz="3200" kern="100" dirty="0">
                <a:latin typeface="Calibri" panose="020F0502020204030204" pitchFamily="34" charset="0"/>
                <a:ea typeface="Calibri" panose="020F0502020204030204" pitchFamily="34" charset="0"/>
                <a:cs typeface="Times New Roman" panose="02020603050405020304" pitchFamily="18" charset="0"/>
              </a:rPr>
              <a:t>La coyuntura no nos ha permitido afiatar </a:t>
            </a:r>
            <a:r>
              <a:rPr lang="es-PE" sz="3200" b="1" kern="100" dirty="0">
                <a:solidFill>
                  <a:srgbClr val="7030A0"/>
                </a:solidFill>
                <a:latin typeface="Calibri" panose="020F0502020204030204" pitchFamily="34" charset="0"/>
                <a:ea typeface="Calibri" panose="020F0502020204030204" pitchFamily="34" charset="0"/>
                <a:cs typeface="Times New Roman" panose="02020603050405020304" pitchFamily="18" charset="0"/>
              </a:rPr>
              <a:t>el cuándo</a:t>
            </a:r>
          </a:p>
          <a:p>
            <a:pPr marL="0" indent="0" algn="just">
              <a:buNone/>
            </a:pPr>
            <a:r>
              <a:rPr lang="es-PE" sz="3200" kern="100" dirty="0">
                <a:latin typeface="Calibri" panose="020F0502020204030204" pitchFamily="34" charset="0"/>
                <a:ea typeface="Calibri" panose="020F0502020204030204" pitchFamily="34" charset="0"/>
                <a:cs typeface="Times New Roman" panose="02020603050405020304" pitchFamily="18" charset="0"/>
              </a:rPr>
              <a:t>El </a:t>
            </a:r>
            <a:r>
              <a:rPr lang="es-PE" sz="3200" b="1" kern="100" dirty="0">
                <a:solidFill>
                  <a:srgbClr val="7030A0"/>
                </a:solidFill>
                <a:latin typeface="Calibri" panose="020F0502020204030204" pitchFamily="34" charset="0"/>
                <a:ea typeface="Calibri" panose="020F0502020204030204" pitchFamily="34" charset="0"/>
                <a:cs typeface="Times New Roman" panose="02020603050405020304" pitchFamily="18" charset="0"/>
              </a:rPr>
              <a:t>cuándo</a:t>
            </a:r>
            <a:r>
              <a:rPr lang="es-PE" sz="3200" kern="100" dirty="0">
                <a:latin typeface="Calibri" panose="020F0502020204030204" pitchFamily="34" charset="0"/>
                <a:ea typeface="Calibri" panose="020F0502020204030204" pitchFamily="34" charset="0"/>
                <a:cs typeface="Times New Roman" panose="02020603050405020304" pitchFamily="18" charset="0"/>
              </a:rPr>
              <a:t>, no nos han permitido hacer institución política porque desde que nacimos estuvimos sometidos a ciertas agendas.</a:t>
            </a:r>
          </a:p>
          <a:p>
            <a:pPr marL="0" indent="0" algn="just">
              <a:buNone/>
            </a:pPr>
            <a:endParaRPr lang="es-PE" sz="32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EF6C1449-574C-BD33-690F-95822AE6689D}"/>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95961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0B2B1-32AC-1F36-62A2-3DD0F27A14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9B89A9-B3B5-0469-D32D-1DA7A3470BB4}"/>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LA LUCHA POLÍTICA ELECTORAL</a:t>
            </a:r>
          </a:p>
        </p:txBody>
      </p:sp>
      <p:sp>
        <p:nvSpPr>
          <p:cNvPr id="3" name="Marcador de contenido 2">
            <a:extLst>
              <a:ext uri="{FF2B5EF4-FFF2-40B4-BE49-F238E27FC236}">
                <a16:creationId xmlns:a16="http://schemas.microsoft.com/office/drawing/2014/main" id="{C9B3B880-9AAC-94C5-03A0-F7B3A50423F2}"/>
              </a:ext>
            </a:extLst>
          </p:cNvPr>
          <p:cNvSpPr>
            <a:spLocks noGrp="1"/>
          </p:cNvSpPr>
          <p:nvPr>
            <p:ph idx="1"/>
          </p:nvPr>
        </p:nvSpPr>
        <p:spPr>
          <a:xfrm>
            <a:off x="581026" y="2446767"/>
            <a:ext cx="5837109" cy="3740673"/>
          </a:xfrm>
        </p:spPr>
        <p:txBody>
          <a:bodyPr>
            <a:normAutofit/>
          </a:bodyPr>
          <a:lstStyle/>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complementarias -&gt; 2020</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generales </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sym typeface="Wingdings" pitchFamily="2" charset="2"/>
              </a:rPr>
              <a:t></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 2021</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regionales </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sym typeface="Wingdings" pitchFamily="2" charset="2"/>
              </a:rPr>
              <a:t></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 2022</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dirty="0">
                <a:effectLst/>
                <a:latin typeface="Calibri" panose="020F0502020204030204" pitchFamily="34" charset="0"/>
                <a:ea typeface="Calibri" panose="020F0502020204030204" pitchFamily="34" charset="0"/>
                <a:cs typeface="Calibri" panose="020F0502020204030204" pitchFamily="34" charset="0"/>
              </a:rPr>
              <a:t>Elecciones generales </a:t>
            </a:r>
            <a:r>
              <a:rPr lang="es-ES_tradnl" sz="3200" dirty="0">
                <a:effectLst/>
                <a:latin typeface="Calibri" panose="020F0502020204030204" pitchFamily="34" charset="0"/>
                <a:ea typeface="Calibri" panose="020F0502020204030204" pitchFamily="34" charset="0"/>
                <a:cs typeface="Calibri" panose="020F0502020204030204" pitchFamily="34" charset="0"/>
                <a:sym typeface="Wingdings" pitchFamily="2" charset="2"/>
              </a:rPr>
              <a:t></a:t>
            </a:r>
            <a:r>
              <a:rPr lang="es-ES_tradnl" sz="3200" dirty="0">
                <a:effectLst/>
                <a:latin typeface="Calibri" panose="020F0502020204030204" pitchFamily="34" charset="0"/>
                <a:ea typeface="Calibri" panose="020F0502020204030204" pitchFamily="34" charset="0"/>
                <a:cs typeface="Calibri" panose="020F0502020204030204" pitchFamily="34" charset="0"/>
              </a:rPr>
              <a:t> 2026</a:t>
            </a:r>
            <a:r>
              <a:rPr lang="es-PE" sz="3200" dirty="0">
                <a:effectLst/>
                <a:latin typeface="Calibri" panose="020F0502020204030204" pitchFamily="34" charset="0"/>
                <a:cs typeface="Calibri" panose="020F0502020204030204" pitchFamily="34" charset="0"/>
              </a:rPr>
              <a:t> </a:t>
            </a:r>
            <a:endParaRPr lang="es-PE" sz="2000" kern="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n 4">
            <a:extLst>
              <a:ext uri="{FF2B5EF4-FFF2-40B4-BE49-F238E27FC236}">
                <a16:creationId xmlns:a16="http://schemas.microsoft.com/office/drawing/2014/main" id="{F6D734B5-2C31-E9E4-3232-4A7FEC6443EA}"/>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59749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CE33-B5ED-1E15-A960-646A58A820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9C8124-27B9-D458-3AE5-22F107EEF272}"/>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LA LUCHA POLÍTICA CONTRA LOS ACUERDOS ANTIDEMOCRÁTICOS</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072B7114-AB8E-89E9-97D5-1431F6D21CBB}"/>
              </a:ext>
            </a:extLst>
          </p:cNvPr>
          <p:cNvSpPr>
            <a:spLocks noGrp="1"/>
          </p:cNvSpPr>
          <p:nvPr>
            <p:ph idx="1"/>
          </p:nvPr>
        </p:nvSpPr>
        <p:spPr>
          <a:xfrm>
            <a:off x="581026" y="2446767"/>
            <a:ext cx="6322694" cy="3740673"/>
          </a:xfrm>
        </p:spPr>
        <p:txBody>
          <a:bodyPr>
            <a:normAutofit/>
          </a:bodyPr>
          <a:lstStyle/>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complementarias -&gt; 2020</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generales </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sym typeface="Wingdings" pitchFamily="2" charset="2"/>
              </a:rPr>
              <a:t></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 2021</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Elecciones regionales </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sym typeface="Wingdings" pitchFamily="2" charset="2"/>
              </a:rPr>
              <a:t></a:t>
            </a:r>
            <a:r>
              <a:rPr lang="es-ES_tradnl" sz="3200" kern="100" dirty="0">
                <a:effectLst/>
                <a:latin typeface="Calibri" panose="020F0502020204030204" pitchFamily="34" charset="0"/>
                <a:ea typeface="Times New Roman" panose="02020603050405020304" pitchFamily="18" charset="0"/>
                <a:cs typeface="Calibri" panose="020F0502020204030204" pitchFamily="34" charset="0"/>
              </a:rPr>
              <a:t> 2022</a:t>
            </a:r>
            <a:endParaRPr lang="es-PE" sz="3200" kern="100" dirty="0">
              <a:effectLst/>
              <a:latin typeface="Calibri" panose="020F0502020204030204" pitchFamily="34" charset="0"/>
              <a:ea typeface="Times New Roman" panose="02020603050405020304" pitchFamily="18" charset="0"/>
              <a:cs typeface="Calibri" panose="020F0502020204030204" pitchFamily="34" charset="0"/>
            </a:endParaRPr>
          </a:p>
          <a:p>
            <a:r>
              <a:rPr lang="es-ES_tradnl" sz="3200" dirty="0">
                <a:effectLst/>
                <a:latin typeface="Calibri" panose="020F0502020204030204" pitchFamily="34" charset="0"/>
                <a:ea typeface="Calibri" panose="020F0502020204030204" pitchFamily="34" charset="0"/>
                <a:cs typeface="Calibri" panose="020F0502020204030204" pitchFamily="34" charset="0"/>
              </a:rPr>
              <a:t>Elecciones generales </a:t>
            </a:r>
            <a:r>
              <a:rPr lang="es-ES_tradnl" sz="3200" dirty="0">
                <a:effectLst/>
                <a:latin typeface="Calibri" panose="020F0502020204030204" pitchFamily="34" charset="0"/>
                <a:ea typeface="Calibri" panose="020F0502020204030204" pitchFamily="34" charset="0"/>
                <a:cs typeface="Calibri" panose="020F0502020204030204" pitchFamily="34" charset="0"/>
                <a:sym typeface="Wingdings" pitchFamily="2" charset="2"/>
              </a:rPr>
              <a:t></a:t>
            </a:r>
            <a:r>
              <a:rPr lang="es-ES_tradnl" sz="3200" dirty="0">
                <a:effectLst/>
                <a:latin typeface="Calibri" panose="020F0502020204030204" pitchFamily="34" charset="0"/>
                <a:ea typeface="Calibri" panose="020F0502020204030204" pitchFamily="34" charset="0"/>
                <a:cs typeface="Calibri" panose="020F0502020204030204" pitchFamily="34" charset="0"/>
              </a:rPr>
              <a:t> 2026</a:t>
            </a:r>
            <a:r>
              <a:rPr lang="es-PE" sz="3200" dirty="0">
                <a:effectLst/>
                <a:latin typeface="Calibri" panose="020F0502020204030204" pitchFamily="34" charset="0"/>
                <a:cs typeface="Calibri" panose="020F0502020204030204" pitchFamily="34" charset="0"/>
              </a:rPr>
              <a:t> </a:t>
            </a:r>
            <a:endParaRPr lang="es-PE" sz="2000" kern="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n 4">
            <a:extLst>
              <a:ext uri="{FF2B5EF4-FFF2-40B4-BE49-F238E27FC236}">
                <a16:creationId xmlns:a16="http://schemas.microsoft.com/office/drawing/2014/main" id="{499A0449-6983-ACB9-0164-234BE03189BA}"/>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401527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32E6-71D6-98E9-0AEF-120CDDA8BE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2939A2-53CA-4506-45D8-C1031D7B117E}"/>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LA LUCHA POLÍTICA CONTRA LOS ACUERDOS ANTIDEMOCRÁTICOS</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59E2764B-A345-520D-E3A9-E70EF68F6525}"/>
              </a:ext>
            </a:extLst>
          </p:cNvPr>
          <p:cNvSpPr>
            <a:spLocks noGrp="1"/>
          </p:cNvSpPr>
          <p:nvPr>
            <p:ph idx="1"/>
          </p:nvPr>
        </p:nvSpPr>
        <p:spPr>
          <a:xfrm>
            <a:off x="581026" y="2446767"/>
            <a:ext cx="6322694" cy="3740673"/>
          </a:xfrm>
        </p:spPr>
        <p:txBody>
          <a:bodyPr>
            <a:normAutofit/>
          </a:bodyPr>
          <a:lstStyle/>
          <a:p>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En el conflicto Castillo – Congreso (2022  #</a:t>
            </a:r>
            <a:r>
              <a:rPr lang="es-ES_tradnl" sz="2400" kern="100" dirty="0" err="1">
                <a:effectLst/>
                <a:latin typeface="Calibri" panose="020F0502020204030204" pitchFamily="34" charset="0"/>
                <a:ea typeface="Times New Roman" panose="02020603050405020304" pitchFamily="18" charset="0"/>
                <a:cs typeface="Calibri" panose="020F0502020204030204" pitchFamily="34" charset="0"/>
              </a:rPr>
              <a:t>QueSeVayanTodos</a:t>
            </a:r>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 / Propuesta de Reforma constitucional sobre muerte cruzada e institucionalidad de los partidos políticos.</a:t>
            </a:r>
          </a:p>
          <a:p>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En el inicio de </a:t>
            </a:r>
            <a:r>
              <a:rPr lang="es-ES_tradnl" sz="2400" kern="100" dirty="0" err="1">
                <a:effectLst/>
                <a:latin typeface="Calibri" panose="020F0502020204030204" pitchFamily="34" charset="0"/>
                <a:ea typeface="Times New Roman" panose="02020603050405020304" pitchFamily="18" charset="0"/>
                <a:cs typeface="Calibri" panose="020F0502020204030204" pitchFamily="34" charset="0"/>
              </a:rPr>
              <a:t>Boluarte</a:t>
            </a:r>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 Las Matanzas (2023  Que renuncie y convoque a elecciones / Propuesta de modificación legislativa para elecciones en 2023.</a:t>
            </a:r>
          </a:p>
          <a:p>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En el contubernio </a:t>
            </a:r>
            <a:r>
              <a:rPr lang="es-ES_tradnl" sz="2400" kern="100" dirty="0" err="1">
                <a:effectLst/>
                <a:latin typeface="Calibri" panose="020F0502020204030204" pitchFamily="34" charset="0"/>
                <a:ea typeface="Times New Roman" panose="02020603050405020304" pitchFamily="18" charset="0"/>
                <a:cs typeface="Calibri" panose="020F0502020204030204" pitchFamily="34" charset="0"/>
              </a:rPr>
              <a:t>Boluarte</a:t>
            </a:r>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 – </a:t>
            </a:r>
            <a:r>
              <a:rPr lang="es-ES_tradnl" sz="2400" kern="100" dirty="0" err="1">
                <a:effectLst/>
                <a:latin typeface="Calibri" panose="020F0502020204030204" pitchFamily="34" charset="0"/>
                <a:ea typeface="Times New Roman" panose="02020603050405020304" pitchFamily="18" charset="0"/>
                <a:cs typeface="Calibri" panose="020F0502020204030204" pitchFamily="34" charset="0"/>
              </a:rPr>
              <a:t>Congeso</a:t>
            </a:r>
            <a:r>
              <a:rPr lang="es-ES_tradnl" sz="2400" kern="100" dirty="0">
                <a:effectLst/>
                <a:latin typeface="Calibri" panose="020F0502020204030204" pitchFamily="34" charset="0"/>
                <a:ea typeface="Times New Roman" panose="02020603050405020304" pitchFamily="18" charset="0"/>
                <a:cs typeface="Calibri" panose="020F0502020204030204" pitchFamily="34" charset="0"/>
              </a:rPr>
              <a:t> de la República (2023-2024</a:t>
            </a:r>
          </a:p>
        </p:txBody>
      </p:sp>
      <p:pic>
        <p:nvPicPr>
          <p:cNvPr id="5" name="Imagen 4">
            <a:extLst>
              <a:ext uri="{FF2B5EF4-FFF2-40B4-BE49-F238E27FC236}">
                <a16:creationId xmlns:a16="http://schemas.microsoft.com/office/drawing/2014/main" id="{6FF5824C-74E8-043D-A76E-5110F01BDB88}"/>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775586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F4204-1A90-76BA-D9B7-50830D9F91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8CA964-AEC3-B68B-76DB-A88173C9D486}"/>
              </a:ext>
            </a:extLst>
          </p:cNvPr>
          <p:cNvSpPr>
            <a:spLocks noGrp="1"/>
          </p:cNvSpPr>
          <p:nvPr>
            <p:ph type="title"/>
          </p:nvPr>
        </p:nvSpPr>
        <p:spPr>
          <a:xfrm>
            <a:off x="581026" y="262996"/>
            <a:ext cx="7319962" cy="2998364"/>
          </a:xfrm>
        </p:spPr>
        <p:txBody>
          <a:bodyPr>
            <a:normAutofit/>
          </a:bodyPr>
          <a:lstStyle/>
          <a:p>
            <a:r>
              <a:rPr lang="es-ES_tradnl" sz="3600" b="1" dirty="0">
                <a:solidFill>
                  <a:srgbClr val="7030A0"/>
                </a:solidFill>
                <a:latin typeface="+mn-lt"/>
              </a:rPr>
              <a:t>LA LUCHA POLÍTICA CONTRA LOS ACUERDOS ANTIDEMOCRÁTICOS</a:t>
            </a:r>
            <a:br>
              <a:rPr lang="es-ES_tradnl" sz="3600" b="1" dirty="0">
                <a:solidFill>
                  <a:srgbClr val="7030A0"/>
                </a:solidFill>
                <a:latin typeface="+mn-lt"/>
              </a:rPr>
            </a:b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B4AAE3EA-F991-CE00-8811-64BDF22C4D04}"/>
              </a:ext>
            </a:extLst>
          </p:cNvPr>
          <p:cNvSpPr>
            <a:spLocks noGrp="1"/>
          </p:cNvSpPr>
          <p:nvPr>
            <p:ph idx="1"/>
          </p:nvPr>
        </p:nvSpPr>
        <p:spPr>
          <a:xfrm>
            <a:off x="581026" y="2446767"/>
            <a:ext cx="6322694" cy="3740673"/>
          </a:xfrm>
        </p:spPr>
        <p:txBody>
          <a:bodyPr>
            <a:normAutofit/>
          </a:bodyPr>
          <a:lstStyle/>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Firmas para el adelanto de elecciones</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Defensa del derecho a protestar: No nos </a:t>
            </a:r>
            <a:r>
              <a:rPr lang="es-ES_tradnl" kern="100" dirty="0" err="1">
                <a:effectLst/>
                <a:latin typeface="Calibri" panose="020F0502020204030204" pitchFamily="34" charset="0"/>
                <a:ea typeface="Calibri" panose="020F0502020204030204" pitchFamily="34" charset="0"/>
                <a:cs typeface="Times New Roman" panose="02020603050405020304" pitchFamily="18" charset="0"/>
              </a:rPr>
              <a:t>terruqueen</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Apoyo a la sociedad civil en su defensa de la lucha antidemocrática.</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CF81D2E1-DAAB-DB2A-F94C-E32C62A4E4D3}"/>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71005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20723-21CD-2406-B238-34D27A9E56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7A4F95-3E1C-3279-4930-F9910F892F94}"/>
              </a:ext>
            </a:extLst>
          </p:cNvPr>
          <p:cNvSpPr>
            <a:spLocks noGrp="1"/>
          </p:cNvSpPr>
          <p:nvPr>
            <p:ph type="title"/>
          </p:nvPr>
        </p:nvSpPr>
        <p:spPr>
          <a:xfrm>
            <a:off x="441960" y="262996"/>
            <a:ext cx="6751320" cy="5863484"/>
          </a:xfrm>
        </p:spPr>
        <p:txBody>
          <a:bodyPr>
            <a:normAutofit/>
          </a:bodyPr>
          <a:lstStyle/>
          <a:p>
            <a:pPr algn="ctr"/>
            <a:r>
              <a:rPr lang="es-ES_tradnl" sz="4000" b="1" dirty="0">
                <a:solidFill>
                  <a:srgbClr val="7030A0"/>
                </a:solidFill>
                <a:latin typeface="+mn-lt"/>
              </a:rPr>
              <a:t>CUATRO</a:t>
            </a:r>
            <a:br>
              <a:rPr lang="es-ES_tradnl" sz="4000" b="1" dirty="0">
                <a:solidFill>
                  <a:srgbClr val="7030A0"/>
                </a:solidFill>
                <a:latin typeface="+mn-lt"/>
              </a:rPr>
            </a:br>
            <a:r>
              <a:rPr lang="es-ES_tradnl" b="1" dirty="0">
                <a:solidFill>
                  <a:srgbClr val="7030A0"/>
                </a:solidFill>
                <a:latin typeface="+mn-lt"/>
              </a:rPr>
              <a:t>El CÓMO y el CUÁNDO</a:t>
            </a:r>
          </a:p>
        </p:txBody>
      </p:sp>
      <p:pic>
        <p:nvPicPr>
          <p:cNvPr id="5" name="Imagen 4">
            <a:extLst>
              <a:ext uri="{FF2B5EF4-FFF2-40B4-BE49-F238E27FC236}">
                <a16:creationId xmlns:a16="http://schemas.microsoft.com/office/drawing/2014/main" id="{B5040D41-C758-3E9B-F0E3-12AC218CF0AA}"/>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606425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938CA-F35D-C754-DDCC-40C25EC864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FC0852-518E-8453-2BDF-56E184926897}"/>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SALIR DE UN DISCURSO Y PRÁCTICA POLÍTICA CAPITALINA</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BE5A8F09-BC88-6F24-7F0A-C80F0B8BD461}"/>
              </a:ext>
            </a:extLst>
          </p:cNvPr>
          <p:cNvSpPr>
            <a:spLocks noGrp="1"/>
          </p:cNvSpPr>
          <p:nvPr>
            <p:ph idx="1"/>
          </p:nvPr>
        </p:nvSpPr>
        <p:spPr>
          <a:xfrm>
            <a:off x="581026" y="2446767"/>
            <a:ext cx="6322694" cy="3740673"/>
          </a:xfrm>
        </p:spPr>
        <p:txBody>
          <a:bodyPr>
            <a:normAutofit/>
          </a:bodyPr>
          <a:lstStyle/>
          <a:p>
            <a:pPr marL="0" indent="0">
              <a:buNone/>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La #</a:t>
            </a:r>
            <a:r>
              <a:rPr lang="es-ES_tradnl" kern="100" dirty="0" err="1">
                <a:effectLst/>
                <a:latin typeface="Calibri" panose="020F0502020204030204" pitchFamily="34" charset="0"/>
                <a:ea typeface="Calibri" panose="020F0502020204030204" pitchFamily="34" charset="0"/>
                <a:cs typeface="Times New Roman" panose="02020603050405020304" pitchFamily="18" charset="0"/>
              </a:rPr>
              <a:t>FuerzaMorada</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 es de las regiones.</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Dos hitos: </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Afianzar la confianza y práctica política con actores y movimientos regionales válidos.</a:t>
            </a:r>
          </a:p>
        </p:txBody>
      </p:sp>
      <p:pic>
        <p:nvPicPr>
          <p:cNvPr id="5" name="Imagen 4">
            <a:extLst>
              <a:ext uri="{FF2B5EF4-FFF2-40B4-BE49-F238E27FC236}">
                <a16:creationId xmlns:a16="http://schemas.microsoft.com/office/drawing/2014/main" id="{47D20189-004E-8CE6-EE67-26088BD5FC2F}"/>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836492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FFBF1-93CD-593E-0F54-9A6267D6E8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B5F072-5DB5-EB30-D1FB-4CC54D43D328}"/>
              </a:ext>
            </a:extLst>
          </p:cNvPr>
          <p:cNvSpPr>
            <a:spLocks noGrp="1"/>
          </p:cNvSpPr>
          <p:nvPr>
            <p:ph type="title"/>
          </p:nvPr>
        </p:nvSpPr>
        <p:spPr>
          <a:xfrm>
            <a:off x="581026" y="262996"/>
            <a:ext cx="7319962" cy="2053484"/>
          </a:xfrm>
        </p:spPr>
        <p:txBody>
          <a:bodyPr>
            <a:normAutofit fontScale="90000"/>
          </a:bodyPr>
          <a:lstStyle/>
          <a:p>
            <a:r>
              <a:rPr lang="es-ES_tradnl" sz="40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LAS DECISIONES DEL PM SE TIENEN QUE TOMAR EN CONSENSO, PENSANDO EN EL PERÚ</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DACBDE1E-6DF5-C0A2-A326-6BE167509668}"/>
              </a:ext>
            </a:extLst>
          </p:cNvPr>
          <p:cNvSpPr>
            <a:spLocks noGrp="1"/>
          </p:cNvSpPr>
          <p:nvPr>
            <p:ph idx="1"/>
          </p:nvPr>
        </p:nvSpPr>
        <p:spPr>
          <a:xfrm>
            <a:off x="581026" y="2446767"/>
            <a:ext cx="6322694" cy="3740673"/>
          </a:xfrm>
        </p:spPr>
        <p:txBody>
          <a:bodyPr>
            <a:normAutofit/>
          </a:bodyPr>
          <a:lstStyle/>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Aquí no se cobra a nadie nada, solo se pide fidelidad institucional.</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Las Regiones decidirán sus candidaturas por consenso, sobre la base de la honestidad y el bien común.</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La plancha presidencial y los candidatos generales se hará por consenso.</a:t>
            </a:r>
          </a:p>
        </p:txBody>
      </p:sp>
      <p:pic>
        <p:nvPicPr>
          <p:cNvPr id="5" name="Imagen 4">
            <a:extLst>
              <a:ext uri="{FF2B5EF4-FFF2-40B4-BE49-F238E27FC236}">
                <a16:creationId xmlns:a16="http://schemas.microsoft.com/office/drawing/2014/main" id="{DA393C1A-8CF1-6A5C-005D-5ADFD84BF404}"/>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58327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E9CE0-36E1-791F-9EFA-81F3D122E3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2719E9-93A4-C11D-F1A3-BE493836BF43}"/>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EL PROCESO DE CONSTRUCCION DE LAS CANDIDATURAS</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E55EDC50-ECF8-4348-3DE0-A96A9CDCD783}"/>
              </a:ext>
            </a:extLst>
          </p:cNvPr>
          <p:cNvSpPr>
            <a:spLocks noGrp="1"/>
          </p:cNvSpPr>
          <p:nvPr>
            <p:ph idx="1"/>
          </p:nvPr>
        </p:nvSpPr>
        <p:spPr>
          <a:xfrm>
            <a:off x="581026" y="2446767"/>
            <a:ext cx="6322694" cy="3740673"/>
          </a:xfrm>
        </p:spPr>
        <p:txBody>
          <a:bodyPr>
            <a:normAutofit lnSpcReduction="10000"/>
          </a:bodyPr>
          <a:lstStyle/>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Hay que seguir haciendo conocer la marca y sus valores fundamentales. Sagasti es clave en esto.</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Pasar de afiliado a militante. Formar para desplegar</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Construir el plan de gobierno. Deliberación </a:t>
            </a:r>
          </a:p>
          <a:p>
            <a:r>
              <a:rPr lang="es-ES_tradnl" kern="100" dirty="0">
                <a:effectLst/>
                <a:latin typeface="Calibri" panose="020F0502020204030204" pitchFamily="34" charset="0"/>
                <a:ea typeface="Calibri" panose="020F0502020204030204" pitchFamily="34" charset="0"/>
                <a:cs typeface="Times New Roman" panose="02020603050405020304" pitchFamily="18" charset="0"/>
              </a:rPr>
              <a:t>Desplegar las candidaturas. Consenso o un militante un voto.</a:t>
            </a:r>
          </a:p>
        </p:txBody>
      </p:sp>
      <p:pic>
        <p:nvPicPr>
          <p:cNvPr id="5" name="Imagen 4">
            <a:extLst>
              <a:ext uri="{FF2B5EF4-FFF2-40B4-BE49-F238E27FC236}">
                <a16:creationId xmlns:a16="http://schemas.microsoft.com/office/drawing/2014/main" id="{E42AF81C-D0A0-E994-033F-B090A8750166}"/>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8205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BC00-16E9-492C-56FF-D4AB41E86F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BA01A2-4306-AD1C-3047-24BEFFB03A97}"/>
              </a:ext>
            </a:extLst>
          </p:cNvPr>
          <p:cNvSpPr>
            <a:spLocks noGrp="1"/>
          </p:cNvSpPr>
          <p:nvPr>
            <p:ph type="title"/>
          </p:nvPr>
        </p:nvSpPr>
        <p:spPr>
          <a:xfrm>
            <a:off x="441960" y="262996"/>
            <a:ext cx="6751320" cy="5863484"/>
          </a:xfrm>
        </p:spPr>
        <p:txBody>
          <a:bodyPr>
            <a:normAutofit/>
          </a:bodyPr>
          <a:lstStyle/>
          <a:p>
            <a:pPr algn="ctr"/>
            <a:r>
              <a:rPr lang="es-ES_tradnl" sz="3600" b="1" dirty="0">
                <a:solidFill>
                  <a:srgbClr val="7030A0"/>
                </a:solidFill>
                <a:latin typeface="+mn-lt"/>
              </a:rPr>
              <a:t>QUINTO</a:t>
            </a:r>
            <a:br>
              <a:rPr lang="es-ES_tradnl" sz="4000" b="1" dirty="0">
                <a:solidFill>
                  <a:srgbClr val="7030A0"/>
                </a:solidFill>
                <a:latin typeface="+mn-lt"/>
              </a:rPr>
            </a:br>
            <a:br>
              <a:rPr lang="es-ES_tradnl" sz="4000" b="1" dirty="0">
                <a:solidFill>
                  <a:srgbClr val="7030A0"/>
                </a:solidFill>
                <a:latin typeface="+mn-lt"/>
              </a:rPr>
            </a:br>
            <a:r>
              <a:rPr lang="es-ES_tradnl" b="1" dirty="0">
                <a:solidFill>
                  <a:srgbClr val="7030A0"/>
                </a:solidFill>
                <a:latin typeface="+mn-lt"/>
              </a:rPr>
              <a:t>El CÓMO, </a:t>
            </a:r>
            <a:br>
              <a:rPr lang="es-ES_tradnl" b="1" dirty="0">
                <a:solidFill>
                  <a:srgbClr val="7030A0"/>
                </a:solidFill>
                <a:latin typeface="+mn-lt"/>
              </a:rPr>
            </a:br>
            <a:r>
              <a:rPr lang="es-ES_tradnl" b="1" dirty="0">
                <a:solidFill>
                  <a:srgbClr val="7030A0"/>
                </a:solidFill>
                <a:latin typeface="+mn-lt"/>
              </a:rPr>
              <a:t>el paso que dar</a:t>
            </a:r>
          </a:p>
        </p:txBody>
      </p:sp>
      <p:pic>
        <p:nvPicPr>
          <p:cNvPr id="5" name="Imagen 4">
            <a:extLst>
              <a:ext uri="{FF2B5EF4-FFF2-40B4-BE49-F238E27FC236}">
                <a16:creationId xmlns:a16="http://schemas.microsoft.com/office/drawing/2014/main" id="{3CCA384C-D476-3CDB-765E-DCE7A0D8F450}"/>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96073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A38D3-A974-46F8-BEAA-31588ADDBA3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C50BFD-65BD-EFDD-198B-99D21289DC80}"/>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PASAR DE LA CONFIANZA A LA INSTITUCIÓN</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4EE2E297-B4F7-D899-4981-BA50B302930E}"/>
              </a:ext>
            </a:extLst>
          </p:cNvPr>
          <p:cNvSpPr>
            <a:spLocks noGrp="1"/>
          </p:cNvSpPr>
          <p:nvPr>
            <p:ph idx="1"/>
          </p:nvPr>
        </p:nvSpPr>
        <p:spPr>
          <a:xfrm>
            <a:off x="581026" y="2446767"/>
            <a:ext cx="6322694" cy="3740673"/>
          </a:xfrm>
        </p:spPr>
        <p:txBody>
          <a:bodyPr>
            <a:normAutofit/>
          </a:bodyPr>
          <a:lstStyle/>
          <a:p>
            <a:pPr marL="342900" lvl="0" indent="-342900">
              <a:buFont typeface="+mj-lt"/>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Militancia nacional</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Militancia respetuosa.</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Militancia esta en las redes</a:t>
            </a:r>
          </a:p>
          <a:p>
            <a:pPr marL="342900" lvl="0" indent="-342900">
              <a:buFont typeface="+mj-lt"/>
              <a:buAutoNum type="arabicPeriod"/>
            </a:pPr>
            <a:endParaRPr lang="es-ES_tradnl"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RENOVAR LOS ORGANOS AUTONOMOS DEL PARTIDO MORADO</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041E22D7-AB3B-B8FE-42C0-54DFB4B74B4A}"/>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20577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138D-D018-BE1D-508F-B0D9254652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803322-EC3C-E0A2-9340-3554D4248ACC}"/>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EL PARTIDO QUE DEBEMOS FORMAR</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9162D3B3-2505-FA14-1E9E-8101144E0F97}"/>
              </a:ext>
            </a:extLst>
          </p:cNvPr>
          <p:cNvSpPr>
            <a:spLocks noGrp="1"/>
          </p:cNvSpPr>
          <p:nvPr>
            <p:ph idx="1"/>
          </p:nvPr>
        </p:nvSpPr>
        <p:spPr>
          <a:xfrm>
            <a:off x="581026" y="2446767"/>
            <a:ext cx="6322694" cy="3740673"/>
          </a:xfrm>
        </p:spPr>
        <p:txBody>
          <a:bodyPr>
            <a:normAutofit/>
          </a:bodyPr>
          <a:lstStyle/>
          <a:p>
            <a:pPr marL="457200" indent="-457200">
              <a:buFont typeface="+mj-lt"/>
              <a:buAutoNum type="arabicPeriod"/>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Un partido que este con los dolores y esperanzas de </a:t>
            </a:r>
            <a:r>
              <a:rPr lang="es-ES_tradnl" sz="2400" kern="100" dirty="0" err="1">
                <a:effectLst/>
                <a:latin typeface="Calibri" panose="020F0502020204030204" pitchFamily="34" charset="0"/>
                <a:ea typeface="Calibri" panose="020F0502020204030204" pitchFamily="34" charset="0"/>
                <a:cs typeface="Times New Roman" panose="02020603050405020304" pitchFamily="18" charset="0"/>
              </a:rPr>
              <a:t>lq</a:t>
            </a:r>
            <a:r>
              <a:rPr lang="es-ES_tradnl" sz="2400" kern="100" dirty="0">
                <a:latin typeface="Calibri" panose="020F0502020204030204" pitchFamily="34" charset="0"/>
                <a:ea typeface="Calibri" panose="020F0502020204030204" pitchFamily="34" charset="0"/>
                <a:cs typeface="Times New Roman" panose="02020603050405020304" pitchFamily="18" charset="0"/>
              </a:rPr>
              <a:t> gente</a:t>
            </a:r>
          </a:p>
          <a:p>
            <a:pPr lvl="1"/>
            <a:r>
              <a:rPr lang="es-ES_tradnl" kern="100" dirty="0">
                <a:latin typeface="Calibri" panose="020F0502020204030204" pitchFamily="34" charset="0"/>
                <a:ea typeface="Calibri" panose="020F0502020204030204" pitchFamily="34" charset="0"/>
                <a:cs typeface="Times New Roman" panose="02020603050405020304" pitchFamily="18" charset="0"/>
              </a:rPr>
              <a:t>Un partido defendiendo la democracia.</a:t>
            </a:r>
          </a:p>
          <a:p>
            <a:pPr lvl="1"/>
            <a:r>
              <a:rPr lang="es-ES_tradnl" kern="100" dirty="0">
                <a:effectLst/>
                <a:latin typeface="Calibri" panose="020F0502020204030204" pitchFamily="34" charset="0"/>
                <a:ea typeface="Calibri" panose="020F0502020204030204" pitchFamily="34" charset="0"/>
                <a:cs typeface="Times New Roman" panose="02020603050405020304" pitchFamily="18" charset="0"/>
              </a:rPr>
              <a:t>Un partido en las calles y con la sociedad civil</a:t>
            </a:r>
          </a:p>
          <a:p>
            <a:pPr lvl="1"/>
            <a:r>
              <a:rPr lang="es-ES_tradnl" kern="100" dirty="0">
                <a:latin typeface="Calibri" panose="020F0502020204030204" pitchFamily="34" charset="0"/>
                <a:ea typeface="Calibri" panose="020F0502020204030204" pitchFamily="34" charset="0"/>
                <a:cs typeface="Times New Roman" panose="02020603050405020304" pitchFamily="18" charset="0"/>
              </a:rPr>
              <a:t>Un  partido con militancias en las redes</a:t>
            </a: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buFont typeface="+mj-lt"/>
              <a:buAutoNum type="arabicPeriod"/>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Un partido en el que se respeten las estructuras</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D2534705-3A09-77D3-1DCA-60C3BD3CA27F}"/>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5136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1C160-36B1-9E0E-B645-536844ECB2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FCB5F8-5DAE-8D84-AC3F-807236621925}"/>
              </a:ext>
            </a:extLst>
          </p:cNvPr>
          <p:cNvSpPr>
            <a:spLocks noGrp="1"/>
          </p:cNvSpPr>
          <p:nvPr>
            <p:ph type="title"/>
          </p:nvPr>
        </p:nvSpPr>
        <p:spPr>
          <a:xfrm>
            <a:off x="441960" y="262996"/>
            <a:ext cx="6751320" cy="5863484"/>
          </a:xfrm>
        </p:spPr>
        <p:txBody>
          <a:bodyPr>
            <a:normAutofit/>
          </a:bodyPr>
          <a:lstStyle/>
          <a:p>
            <a:pPr algn="ctr"/>
            <a:r>
              <a:rPr lang="es-ES_tradnl" sz="3600" b="1" dirty="0">
                <a:solidFill>
                  <a:srgbClr val="7030A0"/>
                </a:solidFill>
                <a:latin typeface="+mn-lt"/>
              </a:rPr>
              <a:t>SEXTO</a:t>
            </a:r>
            <a:br>
              <a:rPr lang="es-ES_tradnl" sz="4000" b="1" dirty="0">
                <a:solidFill>
                  <a:srgbClr val="7030A0"/>
                </a:solidFill>
                <a:latin typeface="+mn-lt"/>
              </a:rPr>
            </a:br>
            <a:br>
              <a:rPr lang="es-ES_tradnl" sz="4000" b="1" dirty="0">
                <a:solidFill>
                  <a:srgbClr val="7030A0"/>
                </a:solidFill>
                <a:latin typeface="+mn-lt"/>
              </a:rPr>
            </a:br>
            <a:r>
              <a:rPr lang="es-ES_tradnl" b="1" dirty="0">
                <a:solidFill>
                  <a:srgbClr val="7030A0"/>
                </a:solidFill>
                <a:latin typeface="+mn-lt"/>
              </a:rPr>
              <a:t>Las MEDIDAS Tomadas</a:t>
            </a:r>
          </a:p>
        </p:txBody>
      </p:sp>
      <p:pic>
        <p:nvPicPr>
          <p:cNvPr id="5" name="Imagen 4">
            <a:extLst>
              <a:ext uri="{FF2B5EF4-FFF2-40B4-BE49-F238E27FC236}">
                <a16:creationId xmlns:a16="http://schemas.microsoft.com/office/drawing/2014/main" id="{34011F8F-892D-810F-0738-4152E1406991}"/>
              </a:ext>
            </a:extLst>
          </p:cNvPr>
          <p:cNvPicPr>
            <a:picLocks noChangeAspect="1"/>
          </p:cNvPicPr>
          <p:nvPr/>
        </p:nvPicPr>
        <p:blipFill rotWithShape="1">
          <a:blip r:embed="rId2"/>
          <a:srcRect l="9708" r="334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83805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5FE0-6E3B-BDF2-C710-7444AA1C06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08973C-0BFF-F496-9987-1AA857ACDF2E}"/>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latin typeface="Calibri" panose="020F0502020204030204" pitchFamily="34" charset="0"/>
                <a:cs typeface="Times New Roman" panose="02020603050405020304" pitchFamily="18" charset="0"/>
              </a:rPr>
              <a:t>RECONSTRUCCIÓN DEL </a:t>
            </a:r>
            <a:br>
              <a:rPr lang="es-ES_tradnl" sz="4000" b="1" kern="100" dirty="0">
                <a:solidFill>
                  <a:srgbClr val="7030A0"/>
                </a:solidFill>
                <a:latin typeface="Calibri" panose="020F0502020204030204" pitchFamily="34" charset="0"/>
                <a:cs typeface="Times New Roman" panose="02020603050405020304" pitchFamily="18" charset="0"/>
              </a:rPr>
            </a:br>
            <a:r>
              <a:rPr lang="es-ES_tradnl" sz="4000" b="1" kern="100" dirty="0">
                <a:solidFill>
                  <a:srgbClr val="7030A0"/>
                </a:solidFill>
                <a:latin typeface="Calibri" panose="020F0502020204030204" pitchFamily="34" charset="0"/>
                <a:cs typeface="Times New Roman" panose="02020603050405020304" pitchFamily="18" charset="0"/>
              </a:rPr>
              <a:t>COMITÉ EJECUTIVO NACIONAL</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27E811F2-0F5B-282F-D8D7-3790B07E83BF}"/>
              </a:ext>
            </a:extLst>
          </p:cNvPr>
          <p:cNvSpPr>
            <a:spLocks noGrp="1"/>
          </p:cNvSpPr>
          <p:nvPr>
            <p:ph idx="1"/>
          </p:nvPr>
        </p:nvSpPr>
        <p:spPr>
          <a:xfrm>
            <a:off x="581026" y="2446767"/>
            <a:ext cx="6322694" cy="3740673"/>
          </a:xfrm>
        </p:spPr>
        <p:txBody>
          <a:bodyPr>
            <a:normAutofit/>
          </a:bodyPr>
          <a:lstStyle/>
          <a:p>
            <a:pPr marL="0" indent="0">
              <a:buNone/>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NUEVOS:</a:t>
            </a:r>
          </a:p>
          <a:p>
            <a:pPr marL="514350" indent="-514350">
              <a:buFont typeface="+mj-lt"/>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Alonso Cornejo</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Font typeface="+mj-lt"/>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Augusto </a:t>
            </a:r>
            <a:r>
              <a:rPr lang="es-ES_tradnl" kern="100" dirty="0" err="1">
                <a:effectLst/>
                <a:latin typeface="Calibri" panose="020F0502020204030204" pitchFamily="34" charset="0"/>
                <a:ea typeface="Calibri" panose="020F0502020204030204" pitchFamily="34" charset="0"/>
                <a:cs typeface="Times New Roman" panose="02020603050405020304" pitchFamily="18" charset="0"/>
              </a:rPr>
              <a:t>Thornberry</a:t>
            </a:r>
            <a:endParaRPr lang="es-ES_tradnl"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Font typeface="+mj-lt"/>
              <a:buAutoNum type="arabicPeriod"/>
            </a:pPr>
            <a:r>
              <a:rPr lang="es-ES_tradnl" kern="100" dirty="0">
                <a:latin typeface="Calibri" panose="020F0502020204030204" pitchFamily="34" charset="0"/>
                <a:ea typeface="Calibri" panose="020F0502020204030204" pitchFamily="34" charset="0"/>
                <a:cs typeface="Times New Roman" panose="02020603050405020304" pitchFamily="18" charset="0"/>
              </a:rPr>
              <a:t>Cesar </a:t>
            </a:r>
            <a:r>
              <a:rPr lang="es-ES_tradnl" kern="100" dirty="0" err="1">
                <a:latin typeface="Calibri" panose="020F0502020204030204" pitchFamily="34" charset="0"/>
                <a:ea typeface="Calibri" panose="020F0502020204030204" pitchFamily="34" charset="0"/>
                <a:cs typeface="Times New Roman" panose="02020603050405020304" pitchFamily="18" charset="0"/>
              </a:rPr>
              <a:t>Labeguerre</a:t>
            </a:r>
            <a:endParaRPr lang="es-ES_tradnl" kern="1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s-ES_tradnl" kern="100" dirty="0">
                <a:latin typeface="Calibri" panose="020F0502020204030204" pitchFamily="34" charset="0"/>
                <a:ea typeface="Calibri" panose="020F0502020204030204" pitchFamily="34" charset="0"/>
                <a:cs typeface="Times New Roman" panose="02020603050405020304" pitchFamily="18" charset="0"/>
              </a:rPr>
              <a:t>POR DEFINIR:</a:t>
            </a:r>
          </a:p>
          <a:p>
            <a:pPr marL="0" indent="0">
              <a:buNone/>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1. </a:t>
            </a:r>
            <a:r>
              <a:rPr lang="es-ES_tradnl" kern="100" dirty="0">
                <a:latin typeface="Calibri" panose="020F0502020204030204" pitchFamily="34" charset="0"/>
                <a:ea typeface="Calibri" panose="020F0502020204030204" pitchFamily="34" charset="0"/>
                <a:cs typeface="Times New Roman" panose="02020603050405020304" pitchFamily="18" charset="0"/>
              </a:rPr>
              <a:t>Joven Morado</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8A38DE7-F426-376B-7608-643FC714A0F0}"/>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718661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39CF4-6DD0-90E6-F138-617096B512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F416CC-49E6-28A8-2125-617CFFB52061}"/>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latin typeface="Calibri" panose="020F0502020204030204" pitchFamily="34" charset="0"/>
                <a:cs typeface="Times New Roman" panose="02020603050405020304" pitchFamily="18" charset="0"/>
              </a:rPr>
              <a:t>INSTITUCIONALIZACIÓN </a:t>
            </a:r>
            <a:br>
              <a:rPr lang="es-ES_tradnl" sz="4000" b="1" kern="100" dirty="0">
                <a:solidFill>
                  <a:srgbClr val="7030A0"/>
                </a:solidFill>
                <a:latin typeface="Calibri" panose="020F0502020204030204" pitchFamily="34" charset="0"/>
                <a:cs typeface="Times New Roman" panose="02020603050405020304" pitchFamily="18" charset="0"/>
              </a:rPr>
            </a:br>
            <a:r>
              <a:rPr lang="es-ES_tradnl" sz="4000" b="1" kern="100" dirty="0">
                <a:solidFill>
                  <a:srgbClr val="7030A0"/>
                </a:solidFill>
                <a:latin typeface="Calibri" panose="020F0502020204030204" pitchFamily="34" charset="0"/>
                <a:cs typeface="Times New Roman" panose="02020603050405020304" pitchFamily="18" charset="0"/>
              </a:rPr>
              <a:t>DEL COMITÉ POLÍTICO</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D658234E-F26C-8115-5150-103742B01931}"/>
              </a:ext>
            </a:extLst>
          </p:cNvPr>
          <p:cNvSpPr>
            <a:spLocks noGrp="1"/>
          </p:cNvSpPr>
          <p:nvPr>
            <p:ph idx="1"/>
          </p:nvPr>
        </p:nvSpPr>
        <p:spPr>
          <a:xfrm>
            <a:off x="581026" y="2446767"/>
            <a:ext cx="6322694" cy="3740673"/>
          </a:xfrm>
        </p:spPr>
        <p:txBody>
          <a:bodyPr>
            <a:noAutofit/>
          </a:bodyPr>
          <a:lstStyle/>
          <a:p>
            <a:pPr marL="0" indent="0">
              <a:buNone/>
            </a:pPr>
            <a:r>
              <a:rPr lang="es-PE" kern="100" dirty="0">
                <a:effectLst/>
                <a:latin typeface="Calibri" panose="020F0502020204030204" pitchFamily="34" charset="0"/>
                <a:ea typeface="Calibri" panose="020F0502020204030204" pitchFamily="34" charset="0"/>
                <a:cs typeface="Times New Roman" panose="02020603050405020304" pitchFamily="18" charset="0"/>
              </a:rPr>
              <a:t>Presidente: </a:t>
            </a:r>
          </a:p>
          <a:p>
            <a:pPr marL="0" indent="0" algn="ctr">
              <a:buNone/>
            </a:pPr>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Luis Durán Rojo</a:t>
            </a:r>
          </a:p>
          <a:p>
            <a:pPr marL="0" indent="0">
              <a:buNone/>
            </a:pPr>
            <a:r>
              <a:rPr lang="es-PE" kern="100" dirty="0">
                <a:effectLst/>
                <a:latin typeface="Calibri" panose="020F0502020204030204" pitchFamily="34" charset="0"/>
                <a:ea typeface="Calibri" panose="020F0502020204030204" pitchFamily="34" charset="0"/>
                <a:cs typeface="Times New Roman" panose="02020603050405020304" pitchFamily="18" charset="0"/>
              </a:rPr>
              <a:t>Secretaria General: </a:t>
            </a:r>
          </a:p>
          <a:p>
            <a:pPr marL="0" indent="0" algn="ctr">
              <a:buNone/>
            </a:pPr>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Lilia Salcedo</a:t>
            </a:r>
          </a:p>
          <a:p>
            <a:pPr marL="0" indent="0">
              <a:buNone/>
            </a:pPr>
            <a:r>
              <a:rPr lang="es-PE" kern="100" dirty="0">
                <a:effectLst/>
                <a:latin typeface="Calibri" panose="020F0502020204030204" pitchFamily="34" charset="0"/>
                <a:ea typeface="Calibri" panose="020F0502020204030204" pitchFamily="34" charset="0"/>
                <a:cs typeface="Times New Roman" panose="02020603050405020304" pitchFamily="18" charset="0"/>
              </a:rPr>
              <a:t>Secretario de Doctrina: </a:t>
            </a:r>
          </a:p>
          <a:p>
            <a:pPr marL="0" indent="0" algn="ctr">
              <a:buNone/>
            </a:pPr>
            <a:r>
              <a:rPr lang="es-PE"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Jose Manuel Guillén</a:t>
            </a:r>
          </a:p>
          <a:p>
            <a:pPr marL="0" indent="0">
              <a:buNone/>
            </a:pP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B00C611-E26A-8C17-B8A6-8EFB16ECCDC7}"/>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50921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D717-B142-BB43-41A3-76CED959AD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C3AE42-8FFF-19CA-296B-6508A92ACBDF}"/>
              </a:ext>
            </a:extLst>
          </p:cNvPr>
          <p:cNvSpPr>
            <a:spLocks noGrp="1"/>
          </p:cNvSpPr>
          <p:nvPr>
            <p:ph type="title"/>
          </p:nvPr>
        </p:nvSpPr>
        <p:spPr>
          <a:xfrm>
            <a:off x="581026" y="262996"/>
            <a:ext cx="7319962" cy="2053484"/>
          </a:xfrm>
        </p:spPr>
        <p:txBody>
          <a:bodyPr>
            <a:normAutofit/>
          </a:bodyPr>
          <a:lstStyle/>
          <a:p>
            <a:r>
              <a:rPr lang="es-ES_tradnl" sz="4000" b="1" kern="100" dirty="0">
                <a:solidFill>
                  <a:srgbClr val="7030A0"/>
                </a:solidFill>
                <a:latin typeface="Calibri" panose="020F0502020204030204" pitchFamily="34" charset="0"/>
                <a:cs typeface="Times New Roman" panose="02020603050405020304" pitchFamily="18" charset="0"/>
              </a:rPr>
              <a:t>INSTITUCIONALIZACIÓN </a:t>
            </a:r>
            <a:br>
              <a:rPr lang="es-ES_tradnl" sz="4000" b="1" kern="100" dirty="0">
                <a:solidFill>
                  <a:srgbClr val="7030A0"/>
                </a:solidFill>
                <a:latin typeface="Calibri" panose="020F0502020204030204" pitchFamily="34" charset="0"/>
                <a:cs typeface="Times New Roman" panose="02020603050405020304" pitchFamily="18" charset="0"/>
              </a:rPr>
            </a:br>
            <a:r>
              <a:rPr lang="es-ES_tradnl" sz="4000" b="1" kern="100" dirty="0">
                <a:solidFill>
                  <a:srgbClr val="7030A0"/>
                </a:solidFill>
                <a:latin typeface="Calibri" panose="020F0502020204030204" pitchFamily="34" charset="0"/>
                <a:cs typeface="Times New Roman" panose="02020603050405020304" pitchFamily="18" charset="0"/>
              </a:rPr>
              <a:t>DEL COMITÉ POLÍTICO</a:t>
            </a:r>
            <a:endParaRPr lang="es-ES_tradnl" sz="3600" b="1" dirty="0">
              <a:solidFill>
                <a:srgbClr val="7030A0"/>
              </a:solidFill>
              <a:latin typeface="+mn-lt"/>
            </a:endParaRPr>
          </a:p>
        </p:txBody>
      </p:sp>
      <p:sp>
        <p:nvSpPr>
          <p:cNvPr id="3" name="Marcador de contenido 2">
            <a:extLst>
              <a:ext uri="{FF2B5EF4-FFF2-40B4-BE49-F238E27FC236}">
                <a16:creationId xmlns:a16="http://schemas.microsoft.com/office/drawing/2014/main" id="{80463315-661C-0A0A-5DDA-016B23A66686}"/>
              </a:ext>
            </a:extLst>
          </p:cNvPr>
          <p:cNvSpPr>
            <a:spLocks noGrp="1"/>
          </p:cNvSpPr>
          <p:nvPr>
            <p:ph idx="1"/>
          </p:nvPr>
        </p:nvSpPr>
        <p:spPr>
          <a:xfrm>
            <a:off x="581026" y="2446767"/>
            <a:ext cx="6322694" cy="4148237"/>
          </a:xfrm>
        </p:spPr>
        <p:txBody>
          <a:bodyPr>
            <a:noAutofit/>
          </a:bodyPr>
          <a:lstStyle/>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Alonso Cornejo</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Daniel Mora</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Carlos Cáceres</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Mesias Guevara</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Elmer Arce</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Guillermo Flores</a:t>
            </a:r>
          </a:p>
          <a:p>
            <a:pPr>
              <a:buFont typeface="Wingdings" pitchFamily="2" charset="2"/>
              <a:buChar char="ü"/>
            </a:pPr>
            <a:r>
              <a:rPr lang="es-PE" kern="100" dirty="0">
                <a:effectLst/>
                <a:latin typeface="Calibri" panose="020F0502020204030204" pitchFamily="34" charset="0"/>
                <a:ea typeface="Calibri" panose="020F0502020204030204" pitchFamily="34" charset="0"/>
                <a:cs typeface="Times New Roman" panose="02020603050405020304" pitchFamily="18" charset="0"/>
              </a:rPr>
              <a:t>Renato Otiniano</a:t>
            </a:r>
          </a:p>
          <a:p>
            <a:pPr marL="0" indent="0">
              <a:buNone/>
            </a:pP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F85C998A-11C0-A9EE-22AE-BDE8EB0FCB9F}"/>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353380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557ED-D4B8-A935-85AF-9E9F838FA6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DAF699-21A3-2406-EFB7-0576FB28D3B7}"/>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RECONSTRUCCIÓN DEL </a:t>
            </a:r>
            <a:br>
              <a:rPr lang="es-ES_tradnl" sz="3600" b="1" dirty="0">
                <a:solidFill>
                  <a:srgbClr val="7030A0"/>
                </a:solidFill>
                <a:latin typeface="+mn-lt"/>
              </a:rPr>
            </a:br>
            <a:r>
              <a:rPr lang="es-ES_tradnl" sz="3600" b="1" dirty="0">
                <a:solidFill>
                  <a:srgbClr val="7030A0"/>
                </a:solidFill>
                <a:latin typeface="+mn-lt"/>
              </a:rPr>
              <a:t>SISTEMA DISCIPLINARIO</a:t>
            </a:r>
          </a:p>
        </p:txBody>
      </p:sp>
      <p:sp>
        <p:nvSpPr>
          <p:cNvPr id="3" name="Marcador de contenido 2">
            <a:extLst>
              <a:ext uri="{FF2B5EF4-FFF2-40B4-BE49-F238E27FC236}">
                <a16:creationId xmlns:a16="http://schemas.microsoft.com/office/drawing/2014/main" id="{7D457AFC-5682-C11D-8B90-494DC1F09E16}"/>
              </a:ext>
            </a:extLst>
          </p:cNvPr>
          <p:cNvSpPr>
            <a:spLocks noGrp="1"/>
          </p:cNvSpPr>
          <p:nvPr>
            <p:ph idx="1"/>
          </p:nvPr>
        </p:nvSpPr>
        <p:spPr>
          <a:xfrm>
            <a:off x="581026" y="2446767"/>
            <a:ext cx="6322694" cy="4148237"/>
          </a:xfrm>
        </p:spPr>
        <p:txBody>
          <a:bodyPr>
            <a:noAutofit/>
          </a:bodyPr>
          <a:lstStyle/>
          <a:p>
            <a:pPr marL="0" indent="0">
              <a:buNone/>
            </a:pPr>
            <a:r>
              <a:rPr lang="es-PE" sz="2400" b="1" kern="100" dirty="0">
                <a:effectLst/>
                <a:latin typeface="Calibri" panose="020F0502020204030204" pitchFamily="34" charset="0"/>
                <a:ea typeface="Calibri" panose="020F0502020204030204" pitchFamily="34" charset="0"/>
                <a:cs typeface="Times New Roman" panose="02020603050405020304" pitchFamily="18" charset="0"/>
              </a:rPr>
              <a:t>Causales de expulsión:</a:t>
            </a:r>
          </a:p>
          <a:p>
            <a:pPr marL="514350" indent="-514350">
              <a:buFont typeface="+mj-lt"/>
              <a:buAutoNum type="arabicPeriod"/>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Los afiliados o militantes que tengan sentencia de segunda instancia por delitos dolosos.</a:t>
            </a:r>
          </a:p>
          <a:p>
            <a:pPr marL="514350" indent="-514350">
              <a:buFont typeface="+mj-lt"/>
              <a:buAutoNum type="arabicPeriod"/>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Los afiliados, militantes o autoridades del partido que en el marco de sus funciones toman decisiones contrariando el texto expreso del Estatuto partidario o violentado los derechos mínimo de defensa y de tipificación de faltas.</a:t>
            </a:r>
          </a:p>
          <a:p>
            <a:pPr marL="0" indent="0">
              <a:buNone/>
            </a:pP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5A7FA48B-276E-E77A-454B-518A8B2920A5}"/>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670505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A71D-9B47-0F9B-7A00-6E66F87F53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E68CA3-CF05-5FF8-B10A-149BAD8A04FB}"/>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RECONSTRUCCIÓN DEL </a:t>
            </a:r>
            <a:br>
              <a:rPr lang="es-ES_tradnl" sz="3600" b="1" dirty="0">
                <a:solidFill>
                  <a:srgbClr val="7030A0"/>
                </a:solidFill>
                <a:latin typeface="+mn-lt"/>
              </a:rPr>
            </a:br>
            <a:r>
              <a:rPr lang="es-ES_tradnl" sz="3600" b="1" dirty="0">
                <a:solidFill>
                  <a:srgbClr val="7030A0"/>
                </a:solidFill>
                <a:latin typeface="+mn-lt"/>
              </a:rPr>
              <a:t>SISTEMA DISCIPLINARIO</a:t>
            </a:r>
          </a:p>
        </p:txBody>
      </p:sp>
      <p:sp>
        <p:nvSpPr>
          <p:cNvPr id="3" name="Marcador de contenido 2">
            <a:extLst>
              <a:ext uri="{FF2B5EF4-FFF2-40B4-BE49-F238E27FC236}">
                <a16:creationId xmlns:a16="http://schemas.microsoft.com/office/drawing/2014/main" id="{F4BC9185-AA61-0D69-3631-65043F0F0CC6}"/>
              </a:ext>
            </a:extLst>
          </p:cNvPr>
          <p:cNvSpPr>
            <a:spLocks noGrp="1"/>
          </p:cNvSpPr>
          <p:nvPr>
            <p:ph idx="1"/>
          </p:nvPr>
        </p:nvSpPr>
        <p:spPr>
          <a:xfrm>
            <a:off x="581026" y="2446767"/>
            <a:ext cx="6322694" cy="4148237"/>
          </a:xfrm>
        </p:spPr>
        <p:txBody>
          <a:bodyPr>
            <a:noAutofit/>
          </a:bodyPr>
          <a:lstStyle/>
          <a:p>
            <a:pPr marL="0" indent="0">
              <a:buNone/>
            </a:pPr>
            <a:r>
              <a:rPr lang="es-PE" sz="2400" b="1" kern="100" dirty="0">
                <a:effectLst/>
                <a:latin typeface="Calibri" panose="020F0502020204030204" pitchFamily="34" charset="0"/>
                <a:ea typeface="Calibri" panose="020F0502020204030204" pitchFamily="34" charset="0"/>
                <a:cs typeface="Times New Roman" panose="02020603050405020304" pitchFamily="18" charset="0"/>
              </a:rPr>
              <a:t>Derechos de los afiliados y militantes:</a:t>
            </a:r>
          </a:p>
          <a:p>
            <a:pPr marL="0" indent="0">
              <a:buNone/>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Ningún afiliado o militante puede ser procesado por instancia o persona que no haya sido elegida en cumbre morada. Tiene además el derecho, establecido en el articulo 75 del Estatuto, como procedimiento previo de solución de controversias, antes de ser procesado por tribunal alguno.</a:t>
            </a:r>
          </a:p>
          <a:p>
            <a:pPr marL="0" indent="0">
              <a:buNone/>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109641B0-6EB6-6880-5B08-5D14D42C0513}"/>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188511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A5B6-7446-7E47-6BCC-3CCC8B0147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88CB67-1B45-9687-C47E-32AC796114E2}"/>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RECONSTRUCCIÓN DEL </a:t>
            </a:r>
            <a:br>
              <a:rPr lang="es-ES_tradnl" sz="3600" b="1" dirty="0">
                <a:solidFill>
                  <a:srgbClr val="7030A0"/>
                </a:solidFill>
                <a:latin typeface="+mn-lt"/>
              </a:rPr>
            </a:br>
            <a:r>
              <a:rPr lang="es-ES_tradnl" sz="3600" b="1" dirty="0">
                <a:solidFill>
                  <a:srgbClr val="7030A0"/>
                </a:solidFill>
                <a:latin typeface="+mn-lt"/>
              </a:rPr>
              <a:t>SISTEMA DISCIPLINARIO</a:t>
            </a:r>
          </a:p>
        </p:txBody>
      </p:sp>
      <p:sp>
        <p:nvSpPr>
          <p:cNvPr id="3" name="Marcador de contenido 2">
            <a:extLst>
              <a:ext uri="{FF2B5EF4-FFF2-40B4-BE49-F238E27FC236}">
                <a16:creationId xmlns:a16="http://schemas.microsoft.com/office/drawing/2014/main" id="{B3E5B875-B2C5-C297-32CF-B9EA93EE5D49}"/>
              </a:ext>
            </a:extLst>
          </p:cNvPr>
          <p:cNvSpPr>
            <a:spLocks noGrp="1"/>
          </p:cNvSpPr>
          <p:nvPr>
            <p:ph idx="1"/>
          </p:nvPr>
        </p:nvSpPr>
        <p:spPr>
          <a:xfrm>
            <a:off x="581026" y="2446767"/>
            <a:ext cx="6322694" cy="4148237"/>
          </a:xfrm>
        </p:spPr>
        <p:txBody>
          <a:bodyPr>
            <a:noAutofit/>
          </a:bodyPr>
          <a:lstStyle/>
          <a:p>
            <a:pPr marL="0" indent="0">
              <a:buNone/>
            </a:pPr>
            <a:r>
              <a:rPr lang="es-PE" sz="2400" b="1" kern="100" dirty="0">
                <a:effectLst/>
                <a:latin typeface="Calibri" panose="020F0502020204030204" pitchFamily="34" charset="0"/>
                <a:ea typeface="Calibri" panose="020F0502020204030204" pitchFamily="34" charset="0"/>
                <a:cs typeface="Times New Roman" panose="02020603050405020304" pitchFamily="18" charset="0"/>
              </a:rPr>
              <a:t>Pronunciamientos:</a:t>
            </a:r>
          </a:p>
          <a:p>
            <a:pPr marL="0" indent="0">
              <a:buNone/>
            </a:pPr>
            <a:r>
              <a:rPr lang="es-PE" sz="2400" kern="100" dirty="0">
                <a:effectLst/>
                <a:latin typeface="Calibri" panose="020F0502020204030204" pitchFamily="34" charset="0"/>
                <a:ea typeface="Calibri" panose="020F0502020204030204" pitchFamily="34" charset="0"/>
                <a:cs typeface="Times New Roman" panose="02020603050405020304" pitchFamily="18" charset="0"/>
              </a:rPr>
              <a:t>Los órganos de dirección política partidaria provinciales y regionales tienen la potestad de elaborar y difundir pronunciamientos públicos en el ámbito político de su influencia territorio, siempre que se encuentren alineados con las posiciones establecidas por el Comité Político y el Comité Ejecutivo Nacional del partido.</a:t>
            </a:r>
          </a:p>
          <a:p>
            <a:pPr marL="0" indent="0">
              <a:buNone/>
            </a:pP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B5F976F3-AFAD-8A9E-A531-4B266696823E}"/>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52585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A9CE-1B44-18DF-C3A4-B69110875E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FBE4F2-5C7D-5E2E-3CD0-281A82B2FF46}"/>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RECONSTRUCCIÓN DEL </a:t>
            </a:r>
            <a:br>
              <a:rPr lang="es-ES_tradnl" sz="3600" b="1" dirty="0">
                <a:solidFill>
                  <a:srgbClr val="7030A0"/>
                </a:solidFill>
                <a:latin typeface="+mn-lt"/>
              </a:rPr>
            </a:br>
            <a:r>
              <a:rPr lang="es-ES_tradnl" sz="3600" b="1" dirty="0">
                <a:solidFill>
                  <a:srgbClr val="7030A0"/>
                </a:solidFill>
                <a:latin typeface="+mn-lt"/>
              </a:rPr>
              <a:t>SISTEMA DISCIPLINARIO</a:t>
            </a:r>
          </a:p>
        </p:txBody>
      </p:sp>
      <p:sp>
        <p:nvSpPr>
          <p:cNvPr id="3" name="Marcador de contenido 2">
            <a:extLst>
              <a:ext uri="{FF2B5EF4-FFF2-40B4-BE49-F238E27FC236}">
                <a16:creationId xmlns:a16="http://schemas.microsoft.com/office/drawing/2014/main" id="{54B68CDE-74B7-0BE4-27AF-C1DDB59DFABA}"/>
              </a:ext>
            </a:extLst>
          </p:cNvPr>
          <p:cNvSpPr>
            <a:spLocks noGrp="1"/>
          </p:cNvSpPr>
          <p:nvPr>
            <p:ph idx="1"/>
          </p:nvPr>
        </p:nvSpPr>
        <p:spPr>
          <a:xfrm>
            <a:off x="562453" y="2096247"/>
            <a:ext cx="6322694" cy="4148237"/>
          </a:xfrm>
        </p:spPr>
        <p:txBody>
          <a:bodyPr>
            <a:normAutofit fontScale="92500"/>
          </a:bodyPr>
          <a:lstStyle/>
          <a:p>
            <a:pPr marL="0" indent="0">
              <a:buNone/>
            </a:pPr>
            <a:r>
              <a:rPr lang="es-PE" sz="2400" b="1" kern="100" dirty="0">
                <a:effectLst/>
                <a:latin typeface="Calibri" panose="020F0502020204030204" pitchFamily="34" charset="0"/>
                <a:ea typeface="Calibri" panose="020F0502020204030204" pitchFamily="34" charset="0"/>
                <a:cs typeface="Times New Roman" panose="02020603050405020304" pitchFamily="18" charset="0"/>
              </a:rPr>
              <a:t>Creación del Tribunal Morado de Ética y Legalidad Estatutaria</a:t>
            </a:r>
          </a:p>
          <a:p>
            <a:r>
              <a:rPr lang="es-PE" sz="2400" kern="100" dirty="0">
                <a:effectLst/>
                <a:latin typeface="Calibri" panose="020F0502020204030204" pitchFamily="34" charset="0"/>
                <a:ea typeface="Calibri" panose="020F0502020204030204" pitchFamily="34" charset="0"/>
                <a:cs typeface="Times New Roman" panose="02020603050405020304" pitchFamily="18" charset="0"/>
              </a:rPr>
              <a:t>Formado por abogados</a:t>
            </a:r>
            <a:endParaRPr lang="es-PE" sz="2400" kern="100" dirty="0">
              <a:latin typeface="Calibri" panose="020F0502020204030204" pitchFamily="34" charset="0"/>
              <a:ea typeface="Calibri" panose="020F0502020204030204" pitchFamily="34" charset="0"/>
              <a:cs typeface="Times New Roman" panose="02020603050405020304" pitchFamily="18" charset="0"/>
            </a:endParaRPr>
          </a:p>
          <a:p>
            <a:r>
              <a:rPr lang="es-PE" sz="2400" kern="100" dirty="0">
                <a:effectLst/>
                <a:latin typeface="Calibri" panose="020F0502020204030204" pitchFamily="34" charset="0"/>
                <a:ea typeface="Calibri" panose="020F0502020204030204" pitchFamily="34" charset="0"/>
                <a:cs typeface="Times New Roman" panose="02020603050405020304" pitchFamily="18" charset="0"/>
              </a:rPr>
              <a:t>La resolución de conflictos tiene que pasar por dos momentos: la mediación para la autocomposición y la hetero decisión por el Tribunal, lo primero es requisito para lo segundo.</a:t>
            </a:r>
          </a:p>
          <a:p>
            <a:r>
              <a:rPr lang="es-PE" sz="2400" kern="100" dirty="0">
                <a:effectLst/>
                <a:latin typeface="Calibri" panose="020F0502020204030204" pitchFamily="34" charset="0"/>
                <a:ea typeface="Calibri" panose="020F0502020204030204" pitchFamily="34" charset="0"/>
                <a:cs typeface="Times New Roman" panose="02020603050405020304" pitchFamily="18" charset="0"/>
              </a:rPr>
              <a:t>El Tribunal tendrá dos instancias:</a:t>
            </a:r>
          </a:p>
          <a:p>
            <a:pPr lvl="1"/>
            <a:r>
              <a:rPr lang="es-PE" sz="2000" kern="100" dirty="0">
                <a:effectLst/>
                <a:latin typeface="Calibri" panose="020F0502020204030204" pitchFamily="34" charset="0"/>
                <a:ea typeface="Calibri" panose="020F0502020204030204" pitchFamily="34" charset="0"/>
                <a:cs typeface="Times New Roman" panose="02020603050405020304" pitchFamily="18" charset="0"/>
              </a:rPr>
              <a:t>Resolverá los conflictos que no pudieron reconocerse en el proceso de mediación al que se refiere el artículo 75.</a:t>
            </a:r>
          </a:p>
          <a:p>
            <a:pPr lvl="1"/>
            <a:r>
              <a:rPr lang="es-PE" sz="2000" kern="100" dirty="0">
                <a:effectLst/>
                <a:latin typeface="Calibri" panose="020F0502020204030204" pitchFamily="34" charset="0"/>
                <a:ea typeface="Calibri" panose="020F0502020204030204" pitchFamily="34" charset="0"/>
                <a:cs typeface="Times New Roman" panose="02020603050405020304" pitchFamily="18" charset="0"/>
              </a:rPr>
              <a:t>Resolverán los conflictos en segunda instancia.</a:t>
            </a:r>
          </a:p>
        </p:txBody>
      </p:sp>
      <p:pic>
        <p:nvPicPr>
          <p:cNvPr id="5" name="Imagen 4">
            <a:extLst>
              <a:ext uri="{FF2B5EF4-FFF2-40B4-BE49-F238E27FC236}">
                <a16:creationId xmlns:a16="http://schemas.microsoft.com/office/drawing/2014/main" id="{DC3168ED-A9B8-5E49-4F25-49B61437F328}"/>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247194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4593A-F7B0-EACE-53D3-9A733A75B74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D848AF-9ABB-B29E-9D3A-99621E9979E3}"/>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MEDIDAS URGENTES</a:t>
            </a:r>
          </a:p>
        </p:txBody>
      </p:sp>
      <p:sp>
        <p:nvSpPr>
          <p:cNvPr id="3" name="Marcador de contenido 2">
            <a:extLst>
              <a:ext uri="{FF2B5EF4-FFF2-40B4-BE49-F238E27FC236}">
                <a16:creationId xmlns:a16="http://schemas.microsoft.com/office/drawing/2014/main" id="{2448CE90-D25D-B1DA-6463-6B54257D930F}"/>
              </a:ext>
            </a:extLst>
          </p:cNvPr>
          <p:cNvSpPr>
            <a:spLocks noGrp="1"/>
          </p:cNvSpPr>
          <p:nvPr>
            <p:ph idx="1"/>
          </p:nvPr>
        </p:nvSpPr>
        <p:spPr>
          <a:xfrm>
            <a:off x="562453" y="2096247"/>
            <a:ext cx="6322694" cy="4148237"/>
          </a:xfrm>
        </p:spPr>
        <p:txBody>
          <a:bodyPr>
            <a:normAutofit fontScale="92500"/>
          </a:bodyPr>
          <a:lstStyle/>
          <a:p>
            <a:r>
              <a:rPr lang="es-PE" sz="2400" kern="100" dirty="0">
                <a:effectLst/>
                <a:latin typeface="Calibri" panose="020F0502020204030204" pitchFamily="34" charset="0"/>
                <a:ea typeface="Calibri" panose="020F0502020204030204" pitchFamily="34" charset="0"/>
                <a:cs typeface="Times New Roman" panose="02020603050405020304" pitchFamily="18" charset="0"/>
              </a:rPr>
              <a:t>Creacion de una Comisión del Reforma Estatutaria, con plazos y exigencias de deliberación.</a:t>
            </a:r>
          </a:p>
          <a:p>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Realización de una Cumbre Morada en alguna de estas tres siguientes fechas: 7, 8 y 9 de diciembre de 2024.</a:t>
            </a:r>
          </a:p>
          <a:p>
            <a:pPr marL="914400" lvl="1" indent="-457200">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Para reformar el OEN (primera instancia única), y</a:t>
            </a:r>
          </a:p>
          <a:p>
            <a:pPr marL="914400" lvl="1" indent="-457200">
              <a:buAutoNum type="arabicPeriod"/>
            </a:pPr>
            <a:r>
              <a:rPr lang="es-ES_tradnl" kern="100" dirty="0">
                <a:effectLst/>
                <a:latin typeface="Calibri" panose="020F0502020204030204" pitchFamily="34" charset="0"/>
                <a:ea typeface="Calibri" panose="020F0502020204030204" pitchFamily="34" charset="0"/>
                <a:cs typeface="Times New Roman" panose="02020603050405020304" pitchFamily="18" charset="0"/>
              </a:rPr>
              <a:t>Para ampliar las funciones del Secretario Nacional de Administración y Logística</a:t>
            </a:r>
            <a:endParaRPr lang="es-PE" kern="100" dirty="0">
              <a:effectLst/>
              <a:latin typeface="Calibri" panose="020F0502020204030204" pitchFamily="34" charset="0"/>
              <a:ea typeface="Calibri" panose="020F0502020204030204" pitchFamily="34" charset="0"/>
              <a:cs typeface="Times New Roman" panose="02020603050405020304" pitchFamily="18" charset="0"/>
            </a:endParaRPr>
          </a:p>
          <a:p>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Realización del Consejo Nacional Morado en alguna de las tres siguientes fechas: 7, 8 y 9 de diciembre de 2024.</a:t>
            </a:r>
          </a:p>
          <a:p>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2CE3E4CB-BC4E-ED61-32B2-3EFD908C132E}"/>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40991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D50E-5589-5F37-14C6-892422A86D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4B71C2-2529-8328-D250-086A6FABE384}"/>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MEDIDAS URGENTES</a:t>
            </a:r>
          </a:p>
        </p:txBody>
      </p:sp>
      <p:sp>
        <p:nvSpPr>
          <p:cNvPr id="3" name="Marcador de contenido 2">
            <a:extLst>
              <a:ext uri="{FF2B5EF4-FFF2-40B4-BE49-F238E27FC236}">
                <a16:creationId xmlns:a16="http://schemas.microsoft.com/office/drawing/2014/main" id="{E3E294BB-41A6-9F56-05F9-7CD2A6749A3F}"/>
              </a:ext>
            </a:extLst>
          </p:cNvPr>
          <p:cNvSpPr>
            <a:spLocks noGrp="1"/>
          </p:cNvSpPr>
          <p:nvPr>
            <p:ph idx="1"/>
          </p:nvPr>
        </p:nvSpPr>
        <p:spPr>
          <a:xfrm>
            <a:off x="562453" y="2096247"/>
            <a:ext cx="5962785" cy="4148237"/>
          </a:xfrm>
        </p:spPr>
        <p:txBody>
          <a:bodyPr>
            <a:normAutofit/>
          </a:bodyPr>
          <a:lstStyle/>
          <a:p>
            <a:pPr marL="0" indent="0">
              <a:buNone/>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La Cumbre Morada hace un llamado</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Calibri" panose="020F0502020204030204" pitchFamily="34" charset="0"/>
              <a:buChar char="-"/>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A la Secretaría General y a la Secretaria del SNOP para la publicación de la Directiva sobre paso de afiliado a militante y la operatividad plena del Registro </a:t>
            </a:r>
            <a:r>
              <a:rPr lang="es-ES_tradnl" sz="2400" kern="100" dirty="0">
                <a:latin typeface="Calibri" panose="020F0502020204030204" pitchFamily="34" charset="0"/>
                <a:ea typeface="Calibri" panose="020F0502020204030204" pitchFamily="34" charset="0"/>
                <a:cs typeface="Times New Roman" panose="02020603050405020304" pitchFamily="18" charset="0"/>
              </a:rPr>
              <a:t>Ú</a:t>
            </a: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nico de Ciudadanos de Militantes Morado</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Calibri" panose="020F0502020204030204" pitchFamily="34" charset="0"/>
              <a:buChar char="-"/>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A la Secretaría Nacional de Talento para el inmediato inicio del curso de formación de paso de afiliado a militante, en noviembre próximo, atendiendo al problema de conectividad que existe a lo largo del país.</a:t>
            </a:r>
          </a:p>
          <a:p>
            <a:pPr marL="342900" lvl="0" indent="-342900" algn="just">
              <a:buFont typeface="Calibri" panose="020F0502020204030204" pitchFamily="34" charset="0"/>
              <a:buChar char="-"/>
            </a:pP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FF416977-36B2-6BFA-E177-8557E51C68FE}"/>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84636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7D2B-B65B-F854-F180-23623D5FDB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07A238-EB6D-AA03-D360-C20BDB865D85}"/>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MEDIDAS URGENTES</a:t>
            </a:r>
          </a:p>
        </p:txBody>
      </p:sp>
      <p:sp>
        <p:nvSpPr>
          <p:cNvPr id="3" name="Marcador de contenido 2">
            <a:extLst>
              <a:ext uri="{FF2B5EF4-FFF2-40B4-BE49-F238E27FC236}">
                <a16:creationId xmlns:a16="http://schemas.microsoft.com/office/drawing/2014/main" id="{924643DE-6AF1-06C1-00DB-872DDF32491F}"/>
              </a:ext>
            </a:extLst>
          </p:cNvPr>
          <p:cNvSpPr>
            <a:spLocks noGrp="1"/>
          </p:cNvSpPr>
          <p:nvPr>
            <p:ph idx="1"/>
          </p:nvPr>
        </p:nvSpPr>
        <p:spPr>
          <a:xfrm>
            <a:off x="562453" y="2096247"/>
            <a:ext cx="6322694" cy="4148237"/>
          </a:xfrm>
        </p:spPr>
        <p:txBody>
          <a:bodyPr>
            <a:normAutofit fontScale="92500"/>
          </a:bodyPr>
          <a:lstStyle/>
          <a:p>
            <a:pPr marL="0" indent="0">
              <a:buNone/>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La Cumbre Morada hace un llamado</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Calibri" panose="020F0502020204030204" pitchFamily="34" charset="0"/>
              <a:buChar char="-"/>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A la Secretaria del SNOP para el establecimiento del programa nacional de incorporación orgánica a la militancia morada de los nuevos afiliados.</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Calibri" panose="020F0502020204030204" pitchFamily="34" charset="0"/>
              <a:buChar char="-"/>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A la Secretaria General, al SNOP y a la Comisión de Democracia Liquida a la conclusión del proceso de virtualización dela deliberación morada.</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Calibri" panose="020F0502020204030204" pitchFamily="34" charset="0"/>
              <a:buChar char="-"/>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A la Secretarias de Formación del Talento Morado y de </a:t>
            </a:r>
            <a:r>
              <a:rPr lang="es-ES_tradnl" sz="2400" kern="100" dirty="0" err="1">
                <a:effectLst/>
                <a:latin typeface="Calibri" panose="020F0502020204030204" pitchFamily="34" charset="0"/>
                <a:ea typeface="Calibri" panose="020F0502020204030204" pitchFamily="34" charset="0"/>
                <a:cs typeface="Times New Roman" panose="02020603050405020304" pitchFamily="18" charset="0"/>
              </a:rPr>
              <a:t>ProMujer</a:t>
            </a: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 para que desarrollen un curso intensivo para las mujeres se preparen para los próximos procesos electorales.</a:t>
            </a:r>
            <a:endParaRPr lang="es-PE"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678148D9-8B98-76A7-ED5A-DD38C1B79C02}"/>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925112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61F0A-E5BE-DC1A-6059-82581CE68D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96A974-A9A5-2896-CD90-107C894D94A3}"/>
              </a:ext>
            </a:extLst>
          </p:cNvPr>
          <p:cNvSpPr>
            <a:spLocks noGrp="1"/>
          </p:cNvSpPr>
          <p:nvPr>
            <p:ph type="title"/>
          </p:nvPr>
        </p:nvSpPr>
        <p:spPr>
          <a:xfrm>
            <a:off x="581026" y="262996"/>
            <a:ext cx="7319962" cy="2053484"/>
          </a:xfrm>
        </p:spPr>
        <p:txBody>
          <a:bodyPr>
            <a:normAutofit/>
          </a:bodyPr>
          <a:lstStyle/>
          <a:p>
            <a:r>
              <a:rPr lang="es-ES_tradnl" sz="3600" b="1" dirty="0">
                <a:solidFill>
                  <a:srgbClr val="7030A0"/>
                </a:solidFill>
                <a:latin typeface="+mn-lt"/>
              </a:rPr>
              <a:t>MEDIDAS URGENTES</a:t>
            </a:r>
          </a:p>
        </p:txBody>
      </p:sp>
      <p:sp>
        <p:nvSpPr>
          <p:cNvPr id="3" name="Marcador de contenido 2">
            <a:extLst>
              <a:ext uri="{FF2B5EF4-FFF2-40B4-BE49-F238E27FC236}">
                <a16:creationId xmlns:a16="http://schemas.microsoft.com/office/drawing/2014/main" id="{F319C1CD-91B8-DCAF-7213-D9CEECDE6889}"/>
              </a:ext>
            </a:extLst>
          </p:cNvPr>
          <p:cNvSpPr>
            <a:spLocks noGrp="1"/>
          </p:cNvSpPr>
          <p:nvPr>
            <p:ph idx="1"/>
          </p:nvPr>
        </p:nvSpPr>
        <p:spPr>
          <a:xfrm>
            <a:off x="379573" y="2096247"/>
            <a:ext cx="6322694" cy="4148237"/>
          </a:xfrm>
        </p:spPr>
        <p:txBody>
          <a:bodyPr>
            <a:normAutofit fontScale="92500"/>
          </a:bodyPr>
          <a:lstStyle/>
          <a:p>
            <a:pPr marL="0" indent="0" algn="just">
              <a:buNone/>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La Cumbre Morada hace un llamado</a:t>
            </a:r>
            <a:r>
              <a:rPr lang="es-PE" sz="2400" kern="100" dirty="0">
                <a:latin typeface="Calibri" panose="020F0502020204030204" pitchFamily="34" charset="0"/>
                <a:ea typeface="Calibri" panose="020F0502020204030204" pitchFamily="34" charset="0"/>
                <a:cs typeface="Times New Roman" panose="02020603050405020304" pitchFamily="18" charset="0"/>
              </a:rPr>
              <a:t> a</a:t>
            </a: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 la Tesorera del partido:</a:t>
            </a:r>
          </a:p>
          <a:p>
            <a:pPr algn="just"/>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Para la publicación de la Directiva de financiamiento privado, incluyendo el financiamiento para la campaña política de 2026 (bajo criterios de participación política y solidaridad institucionalidad.</a:t>
            </a:r>
          </a:p>
          <a:p>
            <a:pPr algn="just"/>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Para la constitución de un Consejo de Financiamiento Morado, a más tardar en el mes de noviembre próximo. </a:t>
            </a:r>
          </a:p>
          <a:p>
            <a:pPr marL="0" indent="0" algn="just">
              <a:buNone/>
            </a:pPr>
            <a:r>
              <a:rPr lang="es-ES_tradnl" sz="2400" kern="100" dirty="0">
                <a:effectLst/>
                <a:latin typeface="Calibri" panose="020F0502020204030204" pitchFamily="34" charset="0"/>
                <a:ea typeface="Calibri" panose="020F0502020204030204" pitchFamily="34" charset="0"/>
                <a:cs typeface="Times New Roman" panose="02020603050405020304" pitchFamily="18" charset="0"/>
              </a:rPr>
              <a:t>En ambos casos, se le pide que se haga un proceso deliberativo con los miembros del Consejo Nacional Morado.</a:t>
            </a:r>
          </a:p>
        </p:txBody>
      </p:sp>
      <p:pic>
        <p:nvPicPr>
          <p:cNvPr id="5" name="Imagen 4">
            <a:extLst>
              <a:ext uri="{FF2B5EF4-FFF2-40B4-BE49-F238E27FC236}">
                <a16:creationId xmlns:a16="http://schemas.microsoft.com/office/drawing/2014/main" id="{53029F0D-377D-BAE0-67C1-FA1752AE70E0}"/>
              </a:ext>
            </a:extLst>
          </p:cNvPr>
          <p:cNvPicPr>
            <a:picLocks noChangeAspect="1"/>
          </p:cNvPicPr>
          <p:nvPr/>
        </p:nvPicPr>
        <p:blipFill rotWithShape="1">
          <a:blip r:embed="rId2"/>
          <a:srcRect l="9708" r="3346"/>
          <a:stretch/>
        </p:blipFill>
        <p:spPr>
          <a:xfrm>
            <a:off x="6229215" y="430316"/>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23695335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988</TotalTime>
  <Words>1329</Words>
  <Application>Microsoft Macintosh PowerPoint</Application>
  <PresentationFormat>Panorámica</PresentationFormat>
  <Paragraphs>135</Paragraphs>
  <Slides>32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Aptos</vt:lpstr>
      <vt:lpstr>Aptos Display</vt:lpstr>
      <vt:lpstr>Arial</vt:lpstr>
      <vt:lpstr>Calibri</vt:lpstr>
      <vt:lpstr>Wingdings</vt:lpstr>
      <vt:lpstr>Tema de Office</vt:lpstr>
      <vt:lpstr>UNO  EMPRENDER  PARA CAMBIAR</vt:lpstr>
      <vt:lpstr>HACER UN EMPRENDIMIENTO</vt:lpstr>
      <vt:lpstr>DOS  EL QUÉ</vt:lpstr>
      <vt:lpstr>El proceso en el Partido Morado  ACORDAMOS EL QUÉ </vt:lpstr>
      <vt:lpstr>Sobre tu identidad CENTRO REPUBLICANO RADICAL </vt:lpstr>
      <vt:lpstr>Sobre el Perú:  ESTA CAMBIANDO MUCHO </vt:lpstr>
      <vt:lpstr>Sobre el Perú:  ESTA CAMBIANDO MUCHO </vt:lpstr>
      <vt:lpstr>TRES  El CÓMO y el CUÁNDO</vt:lpstr>
      <vt:lpstr>EL CUÁNDO</vt:lpstr>
      <vt:lpstr>LA LUCHA POLÍTICA ELECTORAL</vt:lpstr>
      <vt:lpstr>LA LUCHA POLÍTICA CONTRA LOS ACUERDOS ANTIDEMOCRÁTICOS </vt:lpstr>
      <vt:lpstr>LA LUCHA POLÍTICA CONTRA LOS ACUERDOS ANTIDEMOCRÁTICOS </vt:lpstr>
      <vt:lpstr>LA LUCHA POLÍTICA CONTRA LOS ACUERDOS ANTIDEMOCRÁTICOS </vt:lpstr>
      <vt:lpstr>CUATRO El CÓMO y el CUÁNDO</vt:lpstr>
      <vt:lpstr>SALIR DE UN DISCURSO Y PRÁCTICA POLÍTICA CAPITALINA</vt:lpstr>
      <vt:lpstr>LAS DECISIONES DEL PM SE TIENEN QUE TOMAR EN CONSENSO, PENSANDO EN EL PERÚ</vt:lpstr>
      <vt:lpstr>EL PROCESO DE CONSTRUCCION DE LAS CANDIDATURAS</vt:lpstr>
      <vt:lpstr>QUINTO  El CÓMO,  el paso que dar</vt:lpstr>
      <vt:lpstr>PASAR DE LA CONFIANZA A LA INSTITUCIÓN</vt:lpstr>
      <vt:lpstr>EL PARTIDO QUE DEBEMOS FORMAR</vt:lpstr>
      <vt:lpstr>SEXTO  Las MEDIDAS Tomadas</vt:lpstr>
      <vt:lpstr>RECONSTRUCCIÓN DEL  COMITÉ EJECUTIVO NACIONAL</vt:lpstr>
      <vt:lpstr>INSTITUCIONALIZACIÓN  DEL COMITÉ POLÍTICO</vt:lpstr>
      <vt:lpstr>INSTITUCIONALIZACIÓN  DEL COMITÉ POLÍTICO</vt:lpstr>
      <vt:lpstr>RECONSTRUCCIÓN DEL  SISTEMA DISCIPLINARIO</vt:lpstr>
      <vt:lpstr>RECONSTRUCCIÓN DEL  SISTEMA DISCIPLINARIO</vt:lpstr>
      <vt:lpstr>RECONSTRUCCIÓN DEL  SISTEMA DISCIPLINARIO</vt:lpstr>
      <vt:lpstr>RECONSTRUCCIÓN DEL  SISTEMA DISCIPLINARIO</vt:lpstr>
      <vt:lpstr>MEDIDAS URGENTES</vt:lpstr>
      <vt:lpstr>MEDIDAS URGENTES</vt:lpstr>
      <vt:lpstr>MEDIDAS URGENTES</vt:lpstr>
      <vt:lpstr>MEDIDAS URGENTES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Alberto Durán Rojo</dc:creator>
  <cp:lastModifiedBy>Luis Alberto Durán Rojo</cp:lastModifiedBy>
  <cp:revision>3</cp:revision>
  <dcterms:created xsi:type="dcterms:W3CDTF">2024-06-07T01:47:47Z</dcterms:created>
  <dcterms:modified xsi:type="dcterms:W3CDTF">2024-10-20T19:33:29Z</dcterms:modified>
</cp:coreProperties>
</file>